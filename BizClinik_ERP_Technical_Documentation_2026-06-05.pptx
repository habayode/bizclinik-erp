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997196"/>
            <a:ext cx="3840480" cy="146304"/>
          </a:xfrm>
          <a:prstGeom prst="rect">
            <a:avLst/>
          </a:prstGeom>
          <a:solidFill>
            <a:srgbClr val="0EA5A4"/>
          </a:solidFill>
          <a:ln w="12700">
            <a:solidFill>
              <a:srgbClr val="0EA5A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371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0" b="1" spc="-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BizClinik ERP</a:t>
            </a:r>
            <a:endParaRPr lang="en-US" sz="5000" dirty="0"/>
          </a:p>
        </p:txBody>
      </p:sp>
      <p:sp>
        <p:nvSpPr>
          <p:cNvPr id="4" name="Text 2"/>
          <p:cNvSpPr/>
          <p:nvPr/>
        </p:nvSpPr>
        <p:spPr>
          <a:xfrm>
            <a:off x="548640" y="22402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A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Documentation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66928" y="3063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BEAF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Build · Modules · Flows · Tech stack · Secrets · Backup &amp; recovery · Operations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66928" y="45034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HAG_Ai  ·  erp.hagai.online  ·  Production on PostgreSQL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65760"/>
            <a:ext cx="9144000" cy="41148"/>
          </a:xfrm>
          <a:prstGeom prst="rect">
            <a:avLst/>
          </a:prstGeom>
          <a:solidFill>
            <a:srgbClr val="0EA5A4"/>
          </a:solidFill>
          <a:ln w="12700">
            <a:solidFill>
              <a:srgbClr val="0EA5A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BizClinik ERP — Technical Documentation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589520" y="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BEAF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HAG_Ai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11480" y="56692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400" kern="0" dirty="0">
                <a:solidFill>
                  <a:srgbClr val="0EA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11480" y="822960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document covers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320040" y="1737360"/>
            <a:ext cx="411480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1F3864">
                <a:alpha val="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1737360"/>
            <a:ext cx="54864" cy="77724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21208" y="1920240"/>
            <a:ext cx="457200" cy="457200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21208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097280" y="1883664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1097280" y="2157984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Components, hosting, request path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709160" y="1737360"/>
            <a:ext cx="411480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1F3864">
                <a:alpha val="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09160" y="1737360"/>
            <a:ext cx="54864" cy="777240"/>
          </a:xfrm>
          <a:prstGeom prst="rect">
            <a:avLst/>
          </a:prstGeom>
          <a:solidFill>
            <a:srgbClr val="0EA5A4"/>
          </a:solidFill>
          <a:ln w="12700">
            <a:solidFill>
              <a:srgbClr val="0EA5A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910328" y="1920240"/>
            <a:ext cx="457200" cy="457200"/>
          </a:xfrm>
          <a:prstGeom prst="ellipse">
            <a:avLst/>
          </a:prstGeom>
          <a:solidFill>
            <a:srgbClr val="0EA5A4"/>
          </a:solidFill>
          <a:ln w="12700">
            <a:solidFill>
              <a:srgbClr val="0EA5A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10328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486400" y="1883664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486400" y="2157984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full accounting + SaaS feature set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20040" y="2679192"/>
            <a:ext cx="411480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1F3864">
                <a:alpha val="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" y="2679192"/>
            <a:ext cx="54864" cy="7772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21208" y="2862072"/>
            <a:ext cx="457200" cy="45720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21208" y="28620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097280" y="2825496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flows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1097280" y="3099816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Sales, purchase, CRM, billing, bank, FIRS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709160" y="2679192"/>
            <a:ext cx="411480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1F3864">
                <a:alpha val="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709160" y="2679192"/>
            <a:ext cx="54864" cy="77724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910328" y="2862072"/>
            <a:ext cx="457200" cy="457200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10328" y="28620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5486400" y="2825496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5486400" y="3099816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Languages, frameworks, infrastructure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20040" y="3621024"/>
            <a:ext cx="411480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1F3864">
                <a:alpha val="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20040" y="3621024"/>
            <a:ext cx="54864" cy="7772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21208" y="3803904"/>
            <a:ext cx="457200" cy="45720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21208" y="38039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1097280" y="3767328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1097280" y="4041648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PostgreSQL, database-per-tenant, migration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709160" y="3621024"/>
            <a:ext cx="411480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1F3864">
                <a:alpha val="5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709160" y="3621024"/>
            <a:ext cx="54864" cy="7772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910328" y="3803904"/>
            <a:ext cx="457200" cy="45720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910328" y="38039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42" name="Text 40"/>
          <p:cNvSpPr/>
          <p:nvPr/>
        </p:nvSpPr>
        <p:spPr>
          <a:xfrm>
            <a:off x="5486400" y="3767328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&amp; credentials</a:t>
            </a:r>
            <a:endParaRPr lang="en-US" sz="1250" dirty="0"/>
          </a:p>
        </p:txBody>
      </p:sp>
      <p:sp>
        <p:nvSpPr>
          <p:cNvPr id="43" name="Text 41"/>
          <p:cNvSpPr/>
          <p:nvPr/>
        </p:nvSpPr>
        <p:spPr>
          <a:xfrm>
            <a:off x="5486400" y="4041648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Inventory, locations, rotation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320040" y="4562856"/>
            <a:ext cx="411480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1F3864">
                <a:alpha val="5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320040" y="4562856"/>
            <a:ext cx="54864" cy="7772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21208" y="4745736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21208" y="47457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500" dirty="0"/>
          </a:p>
        </p:txBody>
      </p:sp>
      <p:sp>
        <p:nvSpPr>
          <p:cNvPr id="48" name="Text 46"/>
          <p:cNvSpPr/>
          <p:nvPr/>
        </p:nvSpPr>
        <p:spPr>
          <a:xfrm>
            <a:off x="1097280" y="4709160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&amp; recovery</a:t>
            </a:r>
            <a:endParaRPr lang="en-US" sz="1250" dirty="0"/>
          </a:p>
        </p:txBody>
      </p:sp>
      <p:sp>
        <p:nvSpPr>
          <p:cNvPr id="49" name="Text 47"/>
          <p:cNvSpPr/>
          <p:nvPr/>
        </p:nvSpPr>
        <p:spPr>
          <a:xfrm>
            <a:off x="1097280" y="498348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pg_dump → encrypt → R2, restore steps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4709160" y="4562856"/>
            <a:ext cx="411480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1F3864">
                <a:alpha val="5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4709160" y="4562856"/>
            <a:ext cx="54864" cy="777240"/>
          </a:xfrm>
          <a:prstGeom prst="rect">
            <a:avLst/>
          </a:prstGeom>
          <a:solidFill>
            <a:srgbClr val="0EA5A4"/>
          </a:solidFill>
          <a:ln w="12700">
            <a:solidFill>
              <a:srgbClr val="0EA5A4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910328" y="4745736"/>
            <a:ext cx="457200" cy="457200"/>
          </a:xfrm>
          <a:prstGeom prst="ellipse">
            <a:avLst/>
          </a:prstGeom>
          <a:solidFill>
            <a:srgbClr val="0EA5A4"/>
          </a:solidFill>
          <a:ln w="12700">
            <a:solidFill>
              <a:srgbClr val="0EA5A4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910328" y="47457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500" dirty="0"/>
          </a:p>
        </p:txBody>
      </p:sp>
      <p:sp>
        <p:nvSpPr>
          <p:cNvPr id="54" name="Text 52"/>
          <p:cNvSpPr/>
          <p:nvPr/>
        </p:nvSpPr>
        <p:spPr>
          <a:xfrm>
            <a:off x="5486400" y="4709160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runbook</a:t>
            </a:r>
            <a:endParaRPr lang="en-US" sz="1250" dirty="0"/>
          </a:p>
        </p:txBody>
      </p:sp>
      <p:sp>
        <p:nvSpPr>
          <p:cNvPr id="55" name="Text 53"/>
          <p:cNvSpPr/>
          <p:nvPr/>
        </p:nvSpPr>
        <p:spPr>
          <a:xfrm>
            <a:off x="5486400" y="498348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Deploy, monitor, common tasks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8229600" y="482346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 / 20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65760"/>
            <a:ext cx="9144000" cy="41148"/>
          </a:xfrm>
          <a:prstGeom prst="rect">
            <a:avLst/>
          </a:prstGeom>
          <a:solidFill>
            <a:srgbClr val="0EA5A4"/>
          </a:solidFill>
          <a:ln w="12700">
            <a:solidFill>
              <a:srgbClr val="0EA5A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BizClinik ERP — Technical Documentation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589520" y="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BEAF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HAG_Ai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11480" y="56692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400" kern="0" dirty="0">
                <a:solidFill>
                  <a:srgbClr val="0EA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11480" y="822960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system fits together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411480" y="1371600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Zero open ports — all public traffic enters through a Cloudflare named tunnel.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920240"/>
            <a:ext cx="182880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1F3864">
                <a:alpha val="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1920240"/>
            <a:ext cx="54864" cy="9144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" y="202996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21792" y="2304288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Users on web / mobile (responsive UI)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606040" y="1920240"/>
            <a:ext cx="201168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1F3864">
                <a:alpha val="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606040" y="1920240"/>
            <a:ext cx="54864" cy="914400"/>
          </a:xfrm>
          <a:prstGeom prst="rect">
            <a:avLst/>
          </a:prstGeom>
          <a:solidFill>
            <a:srgbClr val="0EA5A4"/>
          </a:solidFill>
          <a:ln w="12700">
            <a:solidFill>
              <a:srgbClr val="0EA5A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70632" y="202996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Cloudflare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770632" y="230428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Tunnel + TLS + DNS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erp / api / *-erp.hagai.online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937760" y="1325880"/>
            <a:ext cx="192024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1F3864">
                <a:alpha val="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937760" y="1325880"/>
            <a:ext cx="54864" cy="86868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102352" y="143560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UI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102352" y="1709928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:8501 · 23 pages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systemd: bizclinik-erp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937760" y="2423160"/>
            <a:ext cx="192024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1F3864">
                <a:alpha val="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937760" y="2423160"/>
            <a:ext cx="54864" cy="86868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102352" y="253288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102352" y="2807208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:8600 · REST + webhooks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systemd: bizclinik-api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7178040" y="1920240"/>
            <a:ext cx="155448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1F3864">
                <a:alpha val="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178040" y="1920240"/>
            <a:ext cx="54864" cy="9144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342632" y="202996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342632" y="2304288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16 · DB-per-tenant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localhost:5432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937760" y="3520440"/>
            <a:ext cx="192024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1F3864">
                <a:alpha val="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937760" y="3520440"/>
            <a:ext cx="54864" cy="8229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102352" y="36301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102352" y="390448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pg_dump → encrypt → R2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nightly 02:30 UTC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7178040" y="3520440"/>
            <a:ext cx="155448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1F3864">
                <a:alpha val="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7178040" y="3520440"/>
            <a:ext cx="54864" cy="8229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342632" y="363016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Cloudflare R2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7342632" y="3904488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Encrypted offsite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bizclinik-backups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2286000" y="2377440"/>
            <a:ext cx="32004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4617720" y="2194560"/>
            <a:ext cx="320040" cy="-45720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4617720" y="2560320"/>
            <a:ext cx="320040" cy="27432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6858000" y="1737360"/>
            <a:ext cx="320040" cy="45720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6858000" y="2834640"/>
            <a:ext cx="320040" cy="-54864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6858000" y="3931920"/>
            <a:ext cx="32004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43" name="Shape 41"/>
          <p:cNvSpPr/>
          <p:nvPr/>
        </p:nvSpPr>
        <p:spPr>
          <a:xfrm>
            <a:off x="5897880" y="3291840"/>
            <a:ext cx="0" cy="22860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44" name="Text 42"/>
          <p:cNvSpPr/>
          <p:nvPr/>
        </p:nvSpPr>
        <p:spPr>
          <a:xfrm>
            <a:off x="8229600" y="482346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3 / 20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65760"/>
            <a:ext cx="9144000" cy="41148"/>
          </a:xfrm>
          <a:prstGeom prst="rect">
            <a:avLst/>
          </a:prstGeom>
          <a:solidFill>
            <a:srgbClr val="0EA5A4"/>
          </a:solidFill>
          <a:ln w="12700">
            <a:solidFill>
              <a:srgbClr val="0EA5A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BizClinik ERP — Technical Documentation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589520" y="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BEAF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HAG_Ai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11480" y="56692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400" kern="0" dirty="0">
                <a:solidFill>
                  <a:srgbClr val="0EA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11480" y="822960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Repository, layout &amp; delivery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411480" y="1783080"/>
            <a:ext cx="4114800" cy="29260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1F3864">
                <a:alpha val="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11480" y="1783080"/>
            <a:ext cx="54864" cy="292608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874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 layout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4360" y="2240280"/>
            <a:ext cx="38404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bizclinik_erp/  — package: models, services, exporters, importers, db layer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app/  — Streamlit multi-page UI (Home + 23 pages)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api/  — FastAPI app (REST + webhooks)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scripts/  — backup CLI, ops scripts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deploy/linux/  — setup, update, healthcheck, add-tenant-subdomain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tests/  — 150+ pytest tests (accounting invariants, services, API)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09160" y="1783080"/>
            <a:ext cx="4023360" cy="29260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1F3864">
                <a:alpha val="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09160" y="1783080"/>
            <a:ext cx="54864" cy="2926080"/>
          </a:xfrm>
          <a:prstGeom prst="rect">
            <a:avLst/>
          </a:prstGeom>
          <a:solidFill>
            <a:srgbClr val="0EA5A4"/>
          </a:solidFill>
          <a:ln w="12700">
            <a:solidFill>
              <a:srgbClr val="0EA5A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92040" y="1874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pipeline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92040" y="224028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GitHub: Habayode/bizclinik-erp (main)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CI: GitHub Actions runs full pytest on every push/PR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Deploy: git pull → migrate (if schema) → systemctl restart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892040" y="3429000"/>
            <a:ext cx="3657600" cy="1143000"/>
          </a:xfrm>
          <a:prstGeom prst="rect">
            <a:avLst/>
          </a:prstGeom>
          <a:solidFill>
            <a:srgbClr val="0B1220"/>
          </a:solidFill>
          <a:ln w="6350">
            <a:solidFill>
              <a:srgbClr val="16284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0" y="3520440"/>
            <a:ext cx="3383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D1FA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pull --ff-only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D1FA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-m bizclinik_erp migrate   # additive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D1FA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systemctl restart bizclinik-erp bizclinik-api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8229600" y="482346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4 / 20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65760"/>
            <a:ext cx="9144000" cy="41148"/>
          </a:xfrm>
          <a:prstGeom prst="rect">
            <a:avLst/>
          </a:prstGeom>
          <a:solidFill>
            <a:srgbClr val="0EA5A4"/>
          </a:solidFill>
          <a:ln w="12700">
            <a:solidFill>
              <a:srgbClr val="0EA5A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BizClinik ERP — Technical Documentation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589520" y="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BEAF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HAG_Ai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11480" y="56692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400" kern="0" dirty="0">
                <a:solidFill>
                  <a:srgbClr val="0EA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11480" y="822960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feature set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411480" y="1371600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Double-entry accounting core, Nigerian tax fit, and SaaS platform layers.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8892" y="1783080"/>
            <a:ext cx="278892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1F3864">
                <a:alpha val="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8892" y="1783080"/>
            <a:ext cx="54864" cy="56692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5196" y="1847088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25196" y="2066544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Double-entry GL, journal posting, trial balance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3177540" y="1783080"/>
            <a:ext cx="278892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1F3864">
                <a:alpha val="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177540" y="1783080"/>
            <a:ext cx="54864" cy="56692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23844" y="1847088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323844" y="2066544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Quotes, orders, invoices, receipts, AR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6076188" y="1783080"/>
            <a:ext cx="278892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1F3864">
                <a:alpha val="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076188" y="1783080"/>
            <a:ext cx="54864" cy="56692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22492" y="1847088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222492" y="2066544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Bills, payments, AP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278892" y="2441448"/>
            <a:ext cx="278892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1F3864">
                <a:alpha val="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78892" y="2441448"/>
            <a:ext cx="54864" cy="56692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25196" y="2505456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25196" y="2724912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Stock moves, avg cost, COGS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3177540" y="2441448"/>
            <a:ext cx="278892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1F3864">
                <a:alpha val="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177540" y="2441448"/>
            <a:ext cx="54864" cy="5669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23844" y="2505456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 + Recon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3323844" y="2724912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Multi-bank import + bank-feed, auto-match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6076188" y="2441448"/>
            <a:ext cx="278892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1F3864">
                <a:alpha val="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076188" y="2441448"/>
            <a:ext cx="54864" cy="56692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22492" y="2505456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Payroll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222492" y="2724912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Graduated Nigerian PAYE, payslips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278892" y="3099816"/>
            <a:ext cx="278892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1F3864">
                <a:alpha val="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278892" y="3099816"/>
            <a:ext cx="54864" cy="56692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25196" y="3163824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425196" y="3383280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VAT, WHT certificates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3177540" y="3099816"/>
            <a:ext cx="278892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1F3864">
                <a:alpha val="5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3177540" y="3099816"/>
            <a:ext cx="54864" cy="56692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323844" y="3163824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 e-invoice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3323844" y="3383280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Draft payload + QR (MBS-ready)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6076188" y="3099816"/>
            <a:ext cx="278892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1F3864">
                <a:alpha val="5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6076188" y="3099816"/>
            <a:ext cx="54864" cy="56692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222492" y="3163824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assets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6222492" y="3383280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Register + auto depreciation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278892" y="3758184"/>
            <a:ext cx="278892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1F3864">
                <a:alpha val="5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278892" y="3758184"/>
            <a:ext cx="54864" cy="56692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25196" y="3822192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425196" y="4041648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P&amp;L, Balance Sheet, Cash Flow, agings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3177540" y="3758184"/>
            <a:ext cx="278892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1F3864">
                <a:alpha val="5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3177540" y="3758184"/>
            <a:ext cx="54864" cy="5669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323844" y="3822192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Multi-currency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3323844" y="4041648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Foreign docs, realized + unrealized FX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6076188" y="3758184"/>
            <a:ext cx="278892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1F3864">
                <a:alpha val="5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6076188" y="3758184"/>
            <a:ext cx="54864" cy="566928"/>
          </a:xfrm>
          <a:prstGeom prst="rect">
            <a:avLst/>
          </a:prstGeom>
          <a:solidFill>
            <a:srgbClr val="0EA5A4"/>
          </a:solidFill>
          <a:ln w="12700">
            <a:solidFill>
              <a:srgbClr val="0EA5A4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222492" y="3822192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Multi-tenant</a:t>
            </a:r>
            <a:endParaRPr lang="en-US" sz="1050" dirty="0"/>
          </a:p>
        </p:txBody>
      </p:sp>
      <p:sp>
        <p:nvSpPr>
          <p:cNvPr id="56" name="Text 54"/>
          <p:cNvSpPr/>
          <p:nvPr/>
        </p:nvSpPr>
        <p:spPr>
          <a:xfrm>
            <a:off x="6222492" y="4041648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Per-tenant DBs, subdomains, isolation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278892" y="4416552"/>
            <a:ext cx="278892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1F3864">
                <a:alpha val="5000"/>
              </a:srgbClr>
            </a:outerShdw>
          </a:effectLst>
        </p:spPr>
      </p:sp>
      <p:sp>
        <p:nvSpPr>
          <p:cNvPr id="58" name="Shape 56"/>
          <p:cNvSpPr/>
          <p:nvPr/>
        </p:nvSpPr>
        <p:spPr>
          <a:xfrm>
            <a:off x="278892" y="4416552"/>
            <a:ext cx="54864" cy="566928"/>
          </a:xfrm>
          <a:prstGeom prst="rect">
            <a:avLst/>
          </a:prstGeom>
          <a:solidFill>
            <a:srgbClr val="0EA5A4"/>
          </a:solidFill>
          <a:ln w="12700">
            <a:solidFill>
              <a:srgbClr val="0EA5A4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25196" y="4480560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</a:t>
            </a:r>
            <a:endParaRPr lang="en-US" sz="1050" dirty="0"/>
          </a:p>
        </p:txBody>
      </p:sp>
      <p:sp>
        <p:nvSpPr>
          <p:cNvPr id="60" name="Text 58"/>
          <p:cNvSpPr/>
          <p:nvPr/>
        </p:nvSpPr>
        <p:spPr>
          <a:xfrm>
            <a:off x="425196" y="4700016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Per-tenant keys, webhooks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3177540" y="4416552"/>
            <a:ext cx="278892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1F3864">
                <a:alpha val="5000"/>
              </a:srgbClr>
            </a:outerShdw>
          </a:effectLst>
        </p:spPr>
      </p:sp>
      <p:sp>
        <p:nvSpPr>
          <p:cNvPr id="62" name="Shape 60"/>
          <p:cNvSpPr/>
          <p:nvPr/>
        </p:nvSpPr>
        <p:spPr>
          <a:xfrm>
            <a:off x="3177540" y="4416552"/>
            <a:ext cx="54864" cy="566928"/>
          </a:xfrm>
          <a:prstGeom prst="rect">
            <a:avLst/>
          </a:prstGeom>
          <a:solidFill>
            <a:srgbClr val="0EA5A4"/>
          </a:solidFill>
          <a:ln w="12700">
            <a:solidFill>
              <a:srgbClr val="0EA5A4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323844" y="4480560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</a:t>
            </a:r>
            <a:endParaRPr lang="en-US" sz="1050" dirty="0"/>
          </a:p>
        </p:txBody>
      </p:sp>
      <p:sp>
        <p:nvSpPr>
          <p:cNvPr id="64" name="Text 62"/>
          <p:cNvSpPr/>
          <p:nvPr/>
        </p:nvSpPr>
        <p:spPr>
          <a:xfrm>
            <a:off x="3323844" y="4700016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Paystack / Flutterwave / Moniepoint</a:t>
            </a:r>
            <a:endParaRPr lang="en-US" sz="800" dirty="0"/>
          </a:p>
        </p:txBody>
      </p:sp>
      <p:sp>
        <p:nvSpPr>
          <p:cNvPr id="65" name="Shape 63"/>
          <p:cNvSpPr/>
          <p:nvPr/>
        </p:nvSpPr>
        <p:spPr>
          <a:xfrm>
            <a:off x="6076188" y="4416552"/>
            <a:ext cx="278892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1F3864">
                <a:alpha val="5000"/>
              </a:srgbClr>
            </a:outerShdw>
          </a:effectLst>
        </p:spPr>
      </p:sp>
      <p:sp>
        <p:nvSpPr>
          <p:cNvPr id="66" name="Shape 64"/>
          <p:cNvSpPr/>
          <p:nvPr/>
        </p:nvSpPr>
        <p:spPr>
          <a:xfrm>
            <a:off x="6076188" y="4416552"/>
            <a:ext cx="54864" cy="5669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222492" y="4480560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</a:t>
            </a:r>
            <a:endParaRPr lang="en-US" sz="1050" dirty="0"/>
          </a:p>
        </p:txBody>
      </p:sp>
      <p:sp>
        <p:nvSpPr>
          <p:cNvPr id="68" name="Text 66"/>
          <p:cNvSpPr/>
          <p:nvPr/>
        </p:nvSpPr>
        <p:spPr>
          <a:xfrm>
            <a:off x="6222492" y="4700016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Leads, pipeline, follow-ups, convert</a:t>
            </a:r>
            <a:endParaRPr lang="en-US" sz="800" dirty="0"/>
          </a:p>
        </p:txBody>
      </p:sp>
      <p:sp>
        <p:nvSpPr>
          <p:cNvPr id="69" name="Shape 67"/>
          <p:cNvSpPr/>
          <p:nvPr/>
        </p:nvSpPr>
        <p:spPr>
          <a:xfrm>
            <a:off x="278892" y="5074920"/>
            <a:ext cx="278892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1F3864">
                <a:alpha val="5000"/>
              </a:srgbClr>
            </a:outerShdw>
          </a:effectLst>
        </p:spPr>
      </p:sp>
      <p:sp>
        <p:nvSpPr>
          <p:cNvPr id="70" name="Shape 68"/>
          <p:cNvSpPr/>
          <p:nvPr/>
        </p:nvSpPr>
        <p:spPr>
          <a:xfrm>
            <a:off x="278892" y="5074920"/>
            <a:ext cx="54864" cy="56692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25196" y="5138928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 templates</a:t>
            </a:r>
            <a:endParaRPr lang="en-US" sz="1050" dirty="0"/>
          </a:p>
        </p:txBody>
      </p:sp>
      <p:sp>
        <p:nvSpPr>
          <p:cNvPr id="72" name="Text 70"/>
          <p:cNvSpPr/>
          <p:nvPr/>
        </p:nvSpPr>
        <p:spPr>
          <a:xfrm>
            <a:off x="425196" y="5358384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Per-tenant branding (logo, colour)</a:t>
            </a:r>
            <a:endParaRPr lang="en-US" sz="800" dirty="0"/>
          </a:p>
        </p:txBody>
      </p:sp>
      <p:sp>
        <p:nvSpPr>
          <p:cNvPr id="73" name="Shape 71"/>
          <p:cNvSpPr/>
          <p:nvPr/>
        </p:nvSpPr>
        <p:spPr>
          <a:xfrm>
            <a:off x="3177540" y="5074920"/>
            <a:ext cx="278892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1F3864">
                <a:alpha val="5000"/>
              </a:srgbClr>
            </a:outerShdw>
          </a:effectLst>
        </p:spPr>
      </p:sp>
      <p:sp>
        <p:nvSpPr>
          <p:cNvPr id="74" name="Shape 72"/>
          <p:cNvSpPr/>
          <p:nvPr/>
        </p:nvSpPr>
        <p:spPr>
          <a:xfrm>
            <a:off x="3177540" y="5074920"/>
            <a:ext cx="54864" cy="56692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3323844" y="5138928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Budgets + Month-end</a:t>
            </a:r>
            <a:endParaRPr lang="en-US" sz="1050" dirty="0"/>
          </a:p>
        </p:txBody>
      </p:sp>
      <p:sp>
        <p:nvSpPr>
          <p:cNvPr id="76" name="Text 74"/>
          <p:cNvSpPr/>
          <p:nvPr/>
        </p:nvSpPr>
        <p:spPr>
          <a:xfrm>
            <a:off x="3323844" y="5358384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Variance, accruals, close</a:t>
            </a:r>
            <a:endParaRPr lang="en-US" sz="800" dirty="0"/>
          </a:p>
        </p:txBody>
      </p:sp>
      <p:sp>
        <p:nvSpPr>
          <p:cNvPr id="77" name="Shape 75"/>
          <p:cNvSpPr/>
          <p:nvPr/>
        </p:nvSpPr>
        <p:spPr>
          <a:xfrm>
            <a:off x="6076188" y="5074920"/>
            <a:ext cx="278892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1F3864">
                <a:alpha val="5000"/>
              </a:srgbClr>
            </a:outerShdw>
          </a:effectLst>
        </p:spPr>
      </p:sp>
      <p:sp>
        <p:nvSpPr>
          <p:cNvPr id="78" name="Shape 76"/>
          <p:cNvSpPr/>
          <p:nvPr/>
        </p:nvSpPr>
        <p:spPr>
          <a:xfrm>
            <a:off x="6076188" y="5074920"/>
            <a:ext cx="54864" cy="56692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6222492" y="5138928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Backups + Monitoring</a:t>
            </a:r>
            <a:endParaRPr lang="en-US" sz="1050" dirty="0"/>
          </a:p>
        </p:txBody>
      </p:sp>
      <p:sp>
        <p:nvSpPr>
          <p:cNvPr id="80" name="Text 78"/>
          <p:cNvSpPr/>
          <p:nvPr/>
        </p:nvSpPr>
        <p:spPr>
          <a:xfrm>
            <a:off x="6222492" y="5358384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Encrypted R2, watchdog, CI, Sentry</a:t>
            </a:r>
            <a:endParaRPr lang="en-US" sz="800" dirty="0"/>
          </a:p>
        </p:txBody>
      </p:sp>
      <p:sp>
        <p:nvSpPr>
          <p:cNvPr id="81" name="Text 79"/>
          <p:cNvSpPr/>
          <p:nvPr/>
        </p:nvSpPr>
        <p:spPr>
          <a:xfrm>
            <a:off x="8229600" y="482346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5 / 20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65760"/>
            <a:ext cx="9144000" cy="41148"/>
          </a:xfrm>
          <a:prstGeom prst="rect">
            <a:avLst/>
          </a:prstGeom>
          <a:solidFill>
            <a:srgbClr val="0EA5A4"/>
          </a:solidFill>
          <a:ln w="12700">
            <a:solidFill>
              <a:srgbClr val="0EA5A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BizClinik ERP — Technical Documentation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589520" y="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BEAF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HAG_Ai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11480" y="56692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400" kern="0" dirty="0">
                <a:solidFill>
                  <a:srgbClr val="0EA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· ACCOUNTING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11480" y="822960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cycle → the ledger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411480" y="1371600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Every document posts a balanced double-entry journal; the trial balance always balances.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11480" y="2057400"/>
            <a:ext cx="190881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1F3864">
                <a:alpha val="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11480" y="2057400"/>
            <a:ext cx="54864" cy="18288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94360" y="2221992"/>
            <a:ext cx="457200" cy="457200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2219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76072" y="2770632"/>
            <a:ext cx="159791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Quote / Order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76072" y="3118104"/>
            <a:ext cx="159791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Optional pre-sale documents.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302002" y="278892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2548890" y="2057400"/>
            <a:ext cx="190881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1F3864">
                <a:alpha val="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548890" y="2057400"/>
            <a:ext cx="54864" cy="18288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31770" y="2221992"/>
            <a:ext cx="457200" cy="457200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31770" y="22219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2713482" y="2770632"/>
            <a:ext cx="159791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invoice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713482" y="3118104"/>
            <a:ext cx="159791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DR Accounts Receivable; CR Sales + Output VAT; DR COGS / CR Inventory.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439412" y="278892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4686300" y="2057400"/>
            <a:ext cx="190881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1F3864">
                <a:alpha val="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86300" y="2057400"/>
            <a:ext cx="54864" cy="18288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869180" y="2221992"/>
            <a:ext cx="457200" cy="457200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69180" y="22219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850892" y="2770632"/>
            <a:ext cx="159791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receipt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850892" y="3118104"/>
            <a:ext cx="159791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DR Bank; CR Accounts Receivable; FX gain/loss if foreign.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576822" y="278892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30" name="Shape 28"/>
          <p:cNvSpPr/>
          <p:nvPr/>
        </p:nvSpPr>
        <p:spPr>
          <a:xfrm>
            <a:off x="6823710" y="2057400"/>
            <a:ext cx="190881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1F3864">
                <a:alpha val="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823710" y="2057400"/>
            <a:ext cx="54864" cy="1828800"/>
          </a:xfrm>
          <a:prstGeom prst="rect">
            <a:avLst/>
          </a:prstGeom>
          <a:solidFill>
            <a:srgbClr val="0EA5A4"/>
          </a:solidFill>
          <a:ln w="12700">
            <a:solidFill>
              <a:srgbClr val="0EA5A4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006590" y="2221992"/>
            <a:ext cx="457200" cy="457200"/>
          </a:xfrm>
          <a:prstGeom prst="ellipse">
            <a:avLst/>
          </a:prstGeom>
          <a:solidFill>
            <a:srgbClr val="0EA5A4"/>
          </a:solidFill>
          <a:ln w="12700">
            <a:solidFill>
              <a:srgbClr val="0EA5A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006590" y="22219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988302" y="2770632"/>
            <a:ext cx="159791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988302" y="3118104"/>
            <a:ext cx="159791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Flows straight into P&amp;L, Balance Sheet, AR aging.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11480" y="4114800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F386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Purchases mirror this: receive bill (DR Inventory/Input VAT, CR AP) → pay (DR AP, CR Bank).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8229600" y="482346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6 / 20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65760"/>
            <a:ext cx="9144000" cy="41148"/>
          </a:xfrm>
          <a:prstGeom prst="rect">
            <a:avLst/>
          </a:prstGeom>
          <a:solidFill>
            <a:srgbClr val="0EA5A4"/>
          </a:solidFill>
          <a:ln w="12700">
            <a:solidFill>
              <a:srgbClr val="0EA5A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BizClinik ERP — Technical Documentation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589520" y="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BEAF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HAG_Ai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11480" y="56692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400" kern="0" dirty="0">
                <a:solidFill>
                  <a:srgbClr val="0EA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· MULTI-TENANT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11480" y="822960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 request routes to the right books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411480" y="1371600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Each business is an isolated PostgreSQL database; routing is by subdomain or login picker.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11480" y="2057400"/>
            <a:ext cx="190881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1F3864">
                <a:alpha val="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11480" y="2057400"/>
            <a:ext cx="54864" cy="1828800"/>
          </a:xfrm>
          <a:prstGeom prst="rect">
            <a:avLst/>
          </a:prstGeom>
          <a:solidFill>
            <a:srgbClr val="0EA5A4"/>
          </a:solidFill>
          <a:ln w="12700">
            <a:solidFill>
              <a:srgbClr val="0EA5A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94360" y="2221992"/>
            <a:ext cx="457200" cy="457200"/>
          </a:xfrm>
          <a:prstGeom prst="ellipse">
            <a:avLst/>
          </a:prstGeom>
          <a:solidFill>
            <a:srgbClr val="0EA5A4"/>
          </a:solidFill>
          <a:ln w="12700">
            <a:solidFill>
              <a:srgbClr val="0EA5A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2219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76072" y="2770632"/>
            <a:ext cx="159791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 detected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76072" y="3118104"/>
            <a:ext cx="159791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&lt;slug&gt;-erp.hagai.online resolves the tenant slug.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302002" y="278892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2548890" y="2057400"/>
            <a:ext cx="190881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1F3864">
                <a:alpha val="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548890" y="2057400"/>
            <a:ext cx="54864" cy="1828800"/>
          </a:xfrm>
          <a:prstGeom prst="rect">
            <a:avLst/>
          </a:prstGeom>
          <a:solidFill>
            <a:srgbClr val="0EA5A4"/>
          </a:solidFill>
          <a:ln w="12700">
            <a:solidFill>
              <a:srgbClr val="0EA5A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31770" y="2221992"/>
            <a:ext cx="457200" cy="457200"/>
          </a:xfrm>
          <a:prstGeom prst="ellipse">
            <a:avLst/>
          </a:prstGeom>
          <a:solidFill>
            <a:srgbClr val="0EA5A4"/>
          </a:solidFill>
          <a:ln w="12700">
            <a:solidFill>
              <a:srgbClr val="0EA5A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31770" y="22219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2713482" y="2770632"/>
            <a:ext cx="159791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plane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713482" y="3118104"/>
            <a:ext cx="159791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bizclinik_control DB maps slug → database.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439412" y="278892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4686300" y="2057400"/>
            <a:ext cx="190881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1F3864">
                <a:alpha val="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86300" y="2057400"/>
            <a:ext cx="54864" cy="18288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869180" y="2221992"/>
            <a:ext cx="457200" cy="457200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69180" y="22219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850892" y="2770632"/>
            <a:ext cx="159791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DB set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850892" y="3118104"/>
            <a:ext cx="159791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Context var routes every query to bizclinik_t_&lt;slug&gt;.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576822" y="278892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30" name="Shape 28"/>
          <p:cNvSpPr/>
          <p:nvPr/>
        </p:nvSpPr>
        <p:spPr>
          <a:xfrm>
            <a:off x="6823710" y="2057400"/>
            <a:ext cx="190881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1F3864">
                <a:alpha val="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823710" y="2057400"/>
            <a:ext cx="54864" cy="18288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006590" y="2221992"/>
            <a:ext cx="457200" cy="457200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006590" y="22219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988302" y="2770632"/>
            <a:ext cx="159791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Isolated session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988302" y="3118104"/>
            <a:ext cx="159791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Tenant only ever sees its own data.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11480" y="4114800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F386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Default DB = bizclinik · Control = bizclinik_control · Tenant = bizclinik_t_&lt;slug&gt;.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8229600" y="482346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7 / 20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65760"/>
            <a:ext cx="9144000" cy="41148"/>
          </a:xfrm>
          <a:prstGeom prst="rect">
            <a:avLst/>
          </a:prstGeom>
          <a:solidFill>
            <a:srgbClr val="0EA5A4"/>
          </a:solidFill>
          <a:ln w="12700">
            <a:solidFill>
              <a:srgbClr val="0EA5A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BizClinik ERP — Technical Documentation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589520" y="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BEAF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HAG_Ai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11480" y="56692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400" kern="0" dirty="0">
                <a:solidFill>
                  <a:srgbClr val="0EA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· BILLING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11480" y="822960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Subscriptions on the provider-agnostic payments layer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411480" y="1371600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PAYMENTS_PROVIDER selects Paystack / Flutterwave / Moniepoint — no code change to switch.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11480" y="2057400"/>
            <a:ext cx="190881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1F3864">
                <a:alpha val="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11480" y="2057400"/>
            <a:ext cx="54864" cy="1828800"/>
          </a:xfrm>
          <a:prstGeom prst="rect">
            <a:avLst/>
          </a:prstGeom>
          <a:solidFill>
            <a:srgbClr val="0EA5A4"/>
          </a:solidFill>
          <a:ln w="12700">
            <a:solidFill>
              <a:srgbClr val="0EA5A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94360" y="2221992"/>
            <a:ext cx="457200" cy="457200"/>
          </a:xfrm>
          <a:prstGeom prst="ellipse">
            <a:avLst/>
          </a:prstGeom>
          <a:solidFill>
            <a:srgbClr val="0EA5A4"/>
          </a:solidFill>
          <a:ln w="12700">
            <a:solidFill>
              <a:srgbClr val="0EA5A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2219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76072" y="2770632"/>
            <a:ext cx="159791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plan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76072" y="3118104"/>
            <a:ext cx="159791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Free activates instantly; paid → checkout.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302002" y="278892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2548890" y="2057400"/>
            <a:ext cx="190881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1F3864">
                <a:alpha val="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548890" y="2057400"/>
            <a:ext cx="54864" cy="1828800"/>
          </a:xfrm>
          <a:prstGeom prst="rect">
            <a:avLst/>
          </a:prstGeom>
          <a:solidFill>
            <a:srgbClr val="0EA5A4"/>
          </a:solidFill>
          <a:ln w="12700">
            <a:solidFill>
              <a:srgbClr val="0EA5A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31770" y="2221992"/>
            <a:ext cx="457200" cy="457200"/>
          </a:xfrm>
          <a:prstGeom prst="ellipse">
            <a:avLst/>
          </a:prstGeom>
          <a:solidFill>
            <a:srgbClr val="0EA5A4"/>
          </a:solidFill>
          <a:ln w="12700">
            <a:solidFill>
              <a:srgbClr val="0EA5A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31770" y="22219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2713482" y="2770632"/>
            <a:ext cx="159791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Initialize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713482" y="3118104"/>
            <a:ext cx="159791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Provider returns a checkout URL + reference.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439412" y="278892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4686300" y="2057400"/>
            <a:ext cx="190881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1F3864">
                <a:alpha val="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86300" y="2057400"/>
            <a:ext cx="54864" cy="18288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869180" y="2221992"/>
            <a:ext cx="457200" cy="45720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69180" y="22219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850892" y="2770632"/>
            <a:ext cx="159791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Webhook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850892" y="3118104"/>
            <a:ext cx="159791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Signed callback verified (HMAC / hash).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576822" y="278892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30" name="Shape 28"/>
          <p:cNvSpPr/>
          <p:nvPr/>
        </p:nvSpPr>
        <p:spPr>
          <a:xfrm>
            <a:off x="6823710" y="2057400"/>
            <a:ext cx="190881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1F3864">
                <a:alpha val="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823710" y="2057400"/>
            <a:ext cx="54864" cy="18288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006590" y="2221992"/>
            <a:ext cx="457200" cy="45720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006590" y="22219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988302" y="2770632"/>
            <a:ext cx="159791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Activate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988302" y="3118104"/>
            <a:ext cx="159791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Subscription set active for the billing period.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11480" y="4114800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F386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State in control plane: subscription + billing_charge. Webhooks are signature-verified.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8229600" y="482346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8 / 20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65760"/>
            <a:ext cx="9144000" cy="41148"/>
          </a:xfrm>
          <a:prstGeom prst="rect">
            <a:avLst/>
          </a:prstGeom>
          <a:solidFill>
            <a:srgbClr val="0EA5A4"/>
          </a:solidFill>
          <a:ln w="12700">
            <a:solidFill>
              <a:srgbClr val="0EA5A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BizClinik ERP — Technical Documentation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589520" y="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BEAF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HAG_Ai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11480" y="56692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400" kern="0" dirty="0">
                <a:solidFill>
                  <a:srgbClr val="0EA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· CRM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11480" y="822960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to customer, tied to the ledger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411480" y="1371600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Lightweight CRM in front of accounting; a won lead becomes a real Customer.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11480" y="2057400"/>
            <a:ext cx="190881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1F3864">
                <a:alpha val="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11480" y="2057400"/>
            <a:ext cx="54864" cy="18288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94360" y="2221992"/>
            <a:ext cx="457200" cy="45720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2219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76072" y="2770632"/>
            <a:ext cx="159791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lead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76072" y="3118104"/>
            <a:ext cx="159791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Name, company, source, owner.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302002" y="278892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2548890" y="2057400"/>
            <a:ext cx="190881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1F3864">
                <a:alpha val="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548890" y="2057400"/>
            <a:ext cx="54864" cy="18288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31770" y="2221992"/>
            <a:ext cx="457200" cy="45720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31770" y="22219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2713482" y="2770632"/>
            <a:ext cx="159791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pipeline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713482" y="3118104"/>
            <a:ext cx="159791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Deal stages: Lead → Qualified → Proposal → Negotiation.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439412" y="278892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4686300" y="2057400"/>
            <a:ext cx="190881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1F3864">
                <a:alpha val="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86300" y="2057400"/>
            <a:ext cx="54864" cy="1828800"/>
          </a:xfrm>
          <a:prstGeom prst="rect">
            <a:avLst/>
          </a:prstGeom>
          <a:solidFill>
            <a:srgbClr val="0EA5A4"/>
          </a:solidFill>
          <a:ln w="12700">
            <a:solidFill>
              <a:srgbClr val="0EA5A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869180" y="2221992"/>
            <a:ext cx="457200" cy="457200"/>
          </a:xfrm>
          <a:prstGeom prst="ellipse">
            <a:avLst/>
          </a:prstGeom>
          <a:solidFill>
            <a:srgbClr val="0EA5A4"/>
          </a:solidFill>
          <a:ln w="12700">
            <a:solidFill>
              <a:srgbClr val="0EA5A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69180" y="22219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850892" y="2770632"/>
            <a:ext cx="159791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850892" y="3118104"/>
            <a:ext cx="159791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Creates a Customer (idempotent) + optional deal.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576822" y="278892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30" name="Shape 28"/>
          <p:cNvSpPr/>
          <p:nvPr/>
        </p:nvSpPr>
        <p:spPr>
          <a:xfrm>
            <a:off x="6823710" y="2057400"/>
            <a:ext cx="190881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1F3864">
                <a:alpha val="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823710" y="2057400"/>
            <a:ext cx="54864" cy="18288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006590" y="2221992"/>
            <a:ext cx="457200" cy="457200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006590" y="22219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988302" y="2770632"/>
            <a:ext cx="159791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988302" y="3118104"/>
            <a:ext cx="159791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Customer flows into sales + statements.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11480" y="4114800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F386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Follow-up activities bucket into overdue / today / upcoming.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8229600" y="482346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9 / 20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65760"/>
            <a:ext cx="9144000" cy="41148"/>
          </a:xfrm>
          <a:prstGeom prst="rect">
            <a:avLst/>
          </a:prstGeom>
          <a:solidFill>
            <a:srgbClr val="0EA5A4"/>
          </a:solidFill>
          <a:ln w="12700">
            <a:solidFill>
              <a:srgbClr val="0EA5A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BizClinik ERP — Technical Documentation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589520" y="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BEAF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HAG_Ai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11480" y="56692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400" kern="0" dirty="0">
                <a:solidFill>
                  <a:srgbClr val="0EA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· BANK FEED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11480" y="822960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Statements into reconciliation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411480" y="1371600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Manual CSV upload or push-in from a bank / aggregator via the API.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11480" y="2057400"/>
            <a:ext cx="190881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1F3864">
                <a:alpha val="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11480" y="2057400"/>
            <a:ext cx="54864" cy="18288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94360" y="2221992"/>
            <a:ext cx="457200" cy="45720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2219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76072" y="2770632"/>
            <a:ext cx="159791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76072" y="3118104"/>
            <a:ext cx="159791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CSV (GTB/Access/Zenith/FBN/Moniepoint) or JSON lines.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302002" y="278892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2548890" y="2057400"/>
            <a:ext cx="190881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1F3864">
                <a:alpha val="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548890" y="2057400"/>
            <a:ext cx="54864" cy="18288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31770" y="2221992"/>
            <a:ext cx="457200" cy="45720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31770" y="22219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2713482" y="2770632"/>
            <a:ext cx="159791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713482" y="3118104"/>
            <a:ext cx="159791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Lenient header/date/amount normalisation.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439412" y="278892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4686300" y="2057400"/>
            <a:ext cx="190881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1F3864">
                <a:alpha val="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86300" y="2057400"/>
            <a:ext cx="54864" cy="1828800"/>
          </a:xfrm>
          <a:prstGeom prst="rect">
            <a:avLst/>
          </a:prstGeom>
          <a:solidFill>
            <a:srgbClr val="0EA5A4"/>
          </a:solidFill>
          <a:ln w="12700">
            <a:solidFill>
              <a:srgbClr val="0EA5A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869180" y="2221992"/>
            <a:ext cx="457200" cy="457200"/>
          </a:xfrm>
          <a:prstGeom prst="ellipse">
            <a:avLst/>
          </a:prstGeom>
          <a:solidFill>
            <a:srgbClr val="0EA5A4"/>
          </a:solidFill>
          <a:ln w="12700">
            <a:solidFill>
              <a:srgbClr val="0EA5A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69180" y="22219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850892" y="2770632"/>
            <a:ext cx="159791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Auto-match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850892" y="3118104"/>
            <a:ext cx="159791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Statement lines ↔ GL postings (amount + date).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576822" y="278892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30" name="Shape 28"/>
          <p:cNvSpPr/>
          <p:nvPr/>
        </p:nvSpPr>
        <p:spPr>
          <a:xfrm>
            <a:off x="6823710" y="2057400"/>
            <a:ext cx="190881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1F3864">
                <a:alpha val="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823710" y="2057400"/>
            <a:ext cx="54864" cy="18288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006590" y="2221992"/>
            <a:ext cx="457200" cy="457200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006590" y="22219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988302" y="2770632"/>
            <a:ext cx="159791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Reconcile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988302" y="3118104"/>
            <a:ext cx="159791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Review unmatched, finalise the period.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11480" y="4114800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F386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API: POST /api/v1/bank/statements (structured lines or raw CSV).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8229600" y="482346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10 / 20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65760"/>
            <a:ext cx="9144000" cy="41148"/>
          </a:xfrm>
          <a:prstGeom prst="rect">
            <a:avLst/>
          </a:prstGeom>
          <a:solidFill>
            <a:srgbClr val="0EA5A4"/>
          </a:solidFill>
          <a:ln w="12700">
            <a:solidFill>
              <a:srgbClr val="0EA5A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BizClinik ERP — Technical Documentation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589520" y="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BEAF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HAG_Ai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11480" y="56692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400" kern="0" dirty="0">
                <a:solidFill>
                  <a:srgbClr val="0EA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· FIRS E-INVOICE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11480" y="822960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e-invoice generation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411480" y="1371600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Builds a FIRS MBS-style payload + QR. Marked DRAFT until transmitted to FIRS.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11480" y="2057400"/>
            <a:ext cx="190881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1F3864">
                <a:alpha val="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11480" y="2057400"/>
            <a:ext cx="54864" cy="18288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94360" y="2221992"/>
            <a:ext cx="457200" cy="45720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2219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76072" y="2770632"/>
            <a:ext cx="159791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invoice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76072" y="3118104"/>
            <a:ext cx="159791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Any posted sales invoice.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302002" y="278892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2548890" y="2057400"/>
            <a:ext cx="190881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1F3864">
                <a:alpha val="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548890" y="2057400"/>
            <a:ext cx="54864" cy="18288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31770" y="2221992"/>
            <a:ext cx="457200" cy="45720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31770" y="22219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2713482" y="2770632"/>
            <a:ext cx="159791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payload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713482" y="3118104"/>
            <a:ext cx="159791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Supplier/customer/lines/tax, sanitised IRN.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439412" y="278892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4686300" y="2057400"/>
            <a:ext cx="190881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1F3864">
                <a:alpha val="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86300" y="2057400"/>
            <a:ext cx="54864" cy="1828800"/>
          </a:xfrm>
          <a:prstGeom prst="rect">
            <a:avLst/>
          </a:prstGeom>
          <a:solidFill>
            <a:srgbClr val="0EA5A4"/>
          </a:solidFill>
          <a:ln w="12700">
            <a:solidFill>
              <a:srgbClr val="0EA5A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869180" y="2221992"/>
            <a:ext cx="457200" cy="457200"/>
          </a:xfrm>
          <a:prstGeom prst="ellipse">
            <a:avLst/>
          </a:prstGeom>
          <a:solidFill>
            <a:srgbClr val="0EA5A4"/>
          </a:solidFill>
          <a:ln w="12700">
            <a:solidFill>
              <a:srgbClr val="0EA5A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69180" y="22219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850892" y="2770632"/>
            <a:ext cx="159791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+ JSON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850892" y="3118104"/>
            <a:ext cx="159791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Compact QR; downloadable JSON.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576822" y="278892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30" name="Shape 28"/>
          <p:cNvSpPr/>
          <p:nvPr/>
        </p:nvSpPr>
        <p:spPr>
          <a:xfrm>
            <a:off x="6823710" y="2057400"/>
            <a:ext cx="190881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1F3864">
                <a:alpha val="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823710" y="2057400"/>
            <a:ext cx="54864" cy="18288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006590" y="2221992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006590" y="22219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988302" y="2770632"/>
            <a:ext cx="159791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(future)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988302" y="3118104"/>
            <a:ext cx="159791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On FIRS onboarding: real CSID + QR.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11480" y="4114800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F386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Today's CSID/QR are placeholders; document_status = DRAFT until FIRS countersigns.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8229600" y="482346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11 / 20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65760"/>
            <a:ext cx="9144000" cy="41148"/>
          </a:xfrm>
          <a:prstGeom prst="rect">
            <a:avLst/>
          </a:prstGeom>
          <a:solidFill>
            <a:srgbClr val="0EA5A4"/>
          </a:solidFill>
          <a:ln w="12700">
            <a:solidFill>
              <a:srgbClr val="0EA5A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BizClinik ERP — Technical Documentation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589520" y="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BEAF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HAG_Ai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11480" y="56692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400" kern="0" dirty="0">
                <a:solidFill>
                  <a:srgbClr val="0EA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11480" y="822960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&amp; libraries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411480" y="1828800"/>
            <a:ext cx="1956816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1F3864">
                <a:alpha val="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11480" y="1828800"/>
            <a:ext cx="54864" cy="71323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938528"/>
            <a:ext cx="1728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2212848"/>
            <a:ext cx="1728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Runtime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532888" y="1828800"/>
            <a:ext cx="1956816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1F3864">
                <a:alpha val="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532888" y="1828800"/>
            <a:ext cx="54864" cy="71323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70048" y="1938528"/>
            <a:ext cx="1728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SQLAlchemy 2.0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670048" y="2212848"/>
            <a:ext cx="1728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ORM + GL primitives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654296" y="1828800"/>
            <a:ext cx="1956816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1F3864">
                <a:alpha val="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54296" y="1828800"/>
            <a:ext cx="54864" cy="71323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91456" y="1938528"/>
            <a:ext cx="1728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16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791456" y="2212848"/>
            <a:ext cx="1728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System of record (DB-per-tenant)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775704" y="1828800"/>
            <a:ext cx="1956816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1F3864">
                <a:alpha val="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775704" y="1828800"/>
            <a:ext cx="54864" cy="71323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912864" y="1938528"/>
            <a:ext cx="1728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psycopg 3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912864" y="2212848"/>
            <a:ext cx="1728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Postgres driver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11480" y="2706624"/>
            <a:ext cx="1956816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1F3864">
                <a:alpha val="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11480" y="2706624"/>
            <a:ext cx="54864" cy="71323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2816352"/>
            <a:ext cx="1728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48640" y="3090672"/>
            <a:ext cx="1728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Multi-page web UI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2532888" y="2706624"/>
            <a:ext cx="1956816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1F3864">
                <a:alpha val="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2532888" y="2706624"/>
            <a:ext cx="54864" cy="71323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70048" y="2816352"/>
            <a:ext cx="1728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+ Uvicorn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2670048" y="3090672"/>
            <a:ext cx="1728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REST API + webhooks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654296" y="2706624"/>
            <a:ext cx="1956816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1F3864">
                <a:alpha val="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654296" y="2706624"/>
            <a:ext cx="54864" cy="71323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91456" y="2816352"/>
            <a:ext cx="1728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ReportLab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791456" y="3090672"/>
            <a:ext cx="1728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Invoice / statement PDFs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6775704" y="2706624"/>
            <a:ext cx="1956816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1F3864">
                <a:alpha val="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775704" y="2706624"/>
            <a:ext cx="54864" cy="71323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912864" y="2816352"/>
            <a:ext cx="1728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Altair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912864" y="3090672"/>
            <a:ext cx="1728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Dashboard charts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411480" y="3584448"/>
            <a:ext cx="1956816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1F3864">
                <a:alpha val="5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11480" y="3584448"/>
            <a:ext cx="54864" cy="71323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48640" y="3694176"/>
            <a:ext cx="1728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/ openpyxl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48640" y="3968496"/>
            <a:ext cx="1728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Data + xlsx import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2532888" y="3584448"/>
            <a:ext cx="1956816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1F3864">
                <a:alpha val="5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2532888" y="3584448"/>
            <a:ext cx="54864" cy="71323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670048" y="3694176"/>
            <a:ext cx="1728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qrcode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2670048" y="3968496"/>
            <a:ext cx="1728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FIRS e-invoice QR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4654296" y="3584448"/>
            <a:ext cx="1956816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1F3864">
                <a:alpha val="5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4654296" y="3584448"/>
            <a:ext cx="54864" cy="71323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791456" y="3694176"/>
            <a:ext cx="1728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boto3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4791456" y="3968496"/>
            <a:ext cx="1728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R2 (S3) offsite backups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6775704" y="3584448"/>
            <a:ext cx="1956816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1F3864">
                <a:alpha val="5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6775704" y="3584448"/>
            <a:ext cx="54864" cy="71323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912864" y="3694176"/>
            <a:ext cx="1728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cryptography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6912864" y="3968496"/>
            <a:ext cx="1728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Client-side backup encryption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411480" y="4462272"/>
            <a:ext cx="1956816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1F3864">
                <a:alpha val="5000"/>
              </a:srgbClr>
            </a:outerShdw>
          </a:effectLst>
        </p:spPr>
      </p:sp>
      <p:sp>
        <p:nvSpPr>
          <p:cNvPr id="57" name="Shape 55"/>
          <p:cNvSpPr/>
          <p:nvPr/>
        </p:nvSpPr>
        <p:spPr>
          <a:xfrm>
            <a:off x="411480" y="4462272"/>
            <a:ext cx="54864" cy="71323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48640" y="4572000"/>
            <a:ext cx="1728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sentry-sdk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548640" y="4846320"/>
            <a:ext cx="1728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Optional error tracking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2532888" y="4462272"/>
            <a:ext cx="1956816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1F3864">
                <a:alpha val="5000"/>
              </a:srgbClr>
            </a:outerShdw>
          </a:effectLst>
        </p:spPr>
      </p:sp>
      <p:sp>
        <p:nvSpPr>
          <p:cNvPr id="61" name="Shape 59"/>
          <p:cNvSpPr/>
          <p:nvPr/>
        </p:nvSpPr>
        <p:spPr>
          <a:xfrm>
            <a:off x="2532888" y="4462272"/>
            <a:ext cx="54864" cy="71323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2670048" y="4572000"/>
            <a:ext cx="1728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</a:t>
            </a:r>
            <a:endParaRPr lang="en-US" sz="1100" dirty="0"/>
          </a:p>
        </p:txBody>
      </p:sp>
      <p:sp>
        <p:nvSpPr>
          <p:cNvPr id="63" name="Text 61"/>
          <p:cNvSpPr/>
          <p:nvPr/>
        </p:nvSpPr>
        <p:spPr>
          <a:xfrm>
            <a:off x="2670048" y="4846320"/>
            <a:ext cx="1728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150+ tests (CI)</a:t>
            </a:r>
            <a:endParaRPr lang="en-US" sz="850" dirty="0"/>
          </a:p>
        </p:txBody>
      </p:sp>
      <p:sp>
        <p:nvSpPr>
          <p:cNvPr id="64" name="Text 62"/>
          <p:cNvSpPr/>
          <p:nvPr/>
        </p:nvSpPr>
        <p:spPr>
          <a:xfrm>
            <a:off x="8229600" y="482346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12 / 20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65760"/>
            <a:ext cx="9144000" cy="41148"/>
          </a:xfrm>
          <a:prstGeom prst="rect">
            <a:avLst/>
          </a:prstGeom>
          <a:solidFill>
            <a:srgbClr val="0EA5A4"/>
          </a:solidFill>
          <a:ln w="12700">
            <a:solidFill>
              <a:srgbClr val="0EA5A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BizClinik ERP — Technical Documentation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589520" y="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BEAF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HAG_Ai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11480" y="56692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400" kern="0" dirty="0">
                <a:solidFill>
                  <a:srgbClr val="0EA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11480" y="822960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Hosting &amp; services</a:t>
            </a:r>
            <a:endParaRPr lang="en-US" sz="25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783080"/>
          <a:ext cx="457200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32918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DigitalOcean droplet · 1 vCPU / 2 GB + 2 GB swap</a:t>
                      </a:r>
                      <a:endParaRPr lang="en-US" sz="9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OS / region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Ubuntu 24.04 · London (lon1)</a:t>
                      </a:r>
                      <a:endParaRPr lang="en-US" sz="9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Public IP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165.227.224.154 (SSH only; no public app ports)</a:t>
                      </a:r>
                      <a:endParaRPr lang="en-US" sz="9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Ingress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Cloudflare named tunnel (cloudflared)</a:t>
                      </a:r>
                      <a:endParaRPr lang="en-US" sz="9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DNS / zone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hagai.online (Cloudflare)</a:t>
                      </a:r>
                      <a:endParaRPr lang="en-US" sz="9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 hosts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erp · api · &lt;slug&gt;-erp.hagai.online</a:t>
                      </a:r>
                      <a:endParaRPr lang="en-US" sz="9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TLS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Cloudflare Universal SSL (auto)</a:t>
                      </a:r>
                      <a:endParaRPr lang="en-US" sz="9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5166360" y="17830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systemd services &amp; timers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166360" y="2148840"/>
            <a:ext cx="36118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bizclinik-erp  — Streamlit UI (:8501), Restart=always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bizclinik-api  — FastAPI/Uvicorn (:8600)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cloudflared  — public tunnel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bizclinik-backup.timer  — nightly 02:30 UTC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bizclinik-health.timer  — watchdog every 5 min (auto-restart + alert)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PostgreSQL 16  — local service, 127.0.0.1:5432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8229600" y="482346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13 / 20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65760"/>
            <a:ext cx="9144000" cy="41148"/>
          </a:xfrm>
          <a:prstGeom prst="rect">
            <a:avLst/>
          </a:prstGeom>
          <a:solidFill>
            <a:srgbClr val="0EA5A4"/>
          </a:solidFill>
          <a:ln w="12700">
            <a:solidFill>
              <a:srgbClr val="0EA5A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BizClinik ERP — Technical Documentation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589520" y="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BEAF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HAG_Ai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11480" y="56692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400" kern="0" dirty="0">
                <a:solidFill>
                  <a:srgbClr val="0EA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11480" y="822960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· database-per-tenant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411480" y="1371600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Migrated from SQLite with verified row counts + ledger sums. SQLite files frozen as rollback.</a:t>
            </a:r>
            <a:endParaRPr lang="en-US" sz="12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828800"/>
          <a:ext cx="466344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2004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Backend switch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BIZCLINIK_DB_BACKEND = sqlite | postgres</a:t>
                      </a:r>
                      <a:endParaRPr lang="en-US" sz="9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Default DB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bizclinik</a:t>
                      </a:r>
                      <a:endParaRPr lang="en-US" sz="9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Control plane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bizclinik_control (tenants, API keys, billing)</a:t>
                      </a:r>
                      <a:endParaRPr lang="en-US" sz="9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 tenant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bizclinik_t_&lt;slug&gt;</a:t>
                      </a:r>
                      <a:endParaRPr lang="en-US" sz="9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Abstraction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bizclinik_erp/dbbackend.py (key → URL)</a:t>
                      </a:r>
                      <a:endParaRPr lang="en-US" sz="9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Schema migrate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python -m bizclinik_erp migrate (additive)</a:t>
                      </a:r>
                      <a:endParaRPr lang="en-US" sz="9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migrate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python -m bizclinik_erp pg-migrate (verified)</a:t>
                      </a:r>
                      <a:endParaRPr lang="en-US" sz="9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5257800" y="182880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database-per-tenant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257800" y="2194560"/>
            <a:ext cx="3474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Mirrors the original per-tenant SQLite isolation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One tenant cannot read another's data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Postgres handles many concurrent writers (no file lock)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Rollback: set backend=sqlite + restart (pre-cutover state)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8229600" y="482346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14 / 20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65760"/>
            <a:ext cx="9144000" cy="41148"/>
          </a:xfrm>
          <a:prstGeom prst="rect">
            <a:avLst/>
          </a:prstGeom>
          <a:solidFill>
            <a:srgbClr val="0EA5A4"/>
          </a:solidFill>
          <a:ln w="12700">
            <a:solidFill>
              <a:srgbClr val="0EA5A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BizClinik ERP — Technical Documentation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589520" y="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BEAF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HAG_Ai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11480" y="56692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400" kern="0" dirty="0">
                <a:solidFill>
                  <a:srgbClr val="0EA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&amp; CREDENTIALS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11480" y="822960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— names &amp; locations (not values)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411480" y="1691640"/>
            <a:ext cx="8321040" cy="457200"/>
          </a:xfrm>
          <a:prstGeom prst="rect">
            <a:avLst/>
          </a:prstGeom>
          <a:solidFill>
            <a:srgbClr val="FEF2F2"/>
          </a:solidFill>
          <a:ln w="9525">
            <a:solidFill>
              <a:srgbClr val="DC262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6916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C262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⚠  Secret VALUES are never stored in this deck. They live in chmod-600 env files on the server and your password manager. Rotate via the issuing service.</a:t>
            </a:r>
            <a:endParaRPr lang="en-US" sz="95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286000"/>
          <a:ext cx="832104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55778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BIZCLINIK_API_KEY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REST API auth (default DB) · /opt/bizclinik-erp/.env</a:t>
                      </a:r>
                      <a:endParaRPr lang="en-US" sz="9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Per-tenant API keys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SHA-256 hashed in control plane; plaintext shown once at creation</a:t>
                      </a:r>
                      <a:endParaRPr lang="en-US" sz="9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PGPASSWORD (role bizclinik)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Postgres login · /etc/bizclinik/pg.env (chmod 600)</a:t>
                      </a:r>
                      <a:endParaRPr lang="en-US" sz="9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BIZCLINIK_BACKUP_PASSPHRASE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RECOVERY SECRET — decrypts R2 backups · /etc/bizclinik/backup.env + password manager</a:t>
                      </a:r>
                      <a:endParaRPr lang="en-US" sz="9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R2_ACCESS_KEY_ID / SECRET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Cloudflare R2 (S3) · /etc/bizclinik/backup.env</a:t>
                      </a:r>
                      <a:endParaRPr lang="en-US" sz="9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Cloudflare API token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DNS/zone automation · used ad-hoc, not stored on box</a:t>
                      </a:r>
                      <a:endParaRPr lang="en-US" sz="9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Tunnel credentials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/etc/cloudflared/&lt;tunnel-id&gt;.json</a:t>
                      </a:r>
                      <a:endParaRPr lang="en-US" sz="9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Server root (SSH)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Droplet access · your password manager</a:t>
                      </a:r>
                      <a:endParaRPr lang="en-US" sz="9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9"/>
                    </a:solidFill>
                  </a:tcPr>
                </a:tc>
              </a:tr>
            </a:tbl>
          </a:graphicData>
        </a:graphic>
      </p:graphicFrame>
      <p:sp>
        <p:nvSpPr>
          <p:cNvPr id="11" name="Text 8"/>
          <p:cNvSpPr/>
          <p:nvPr/>
        </p:nvSpPr>
        <p:spPr>
          <a:xfrm>
            <a:off x="8229600" y="482346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15 / 20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65760"/>
            <a:ext cx="9144000" cy="41148"/>
          </a:xfrm>
          <a:prstGeom prst="rect">
            <a:avLst/>
          </a:prstGeom>
          <a:solidFill>
            <a:srgbClr val="0EA5A4"/>
          </a:solidFill>
          <a:ln w="12700">
            <a:solidFill>
              <a:srgbClr val="0EA5A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BizClinik ERP — Technical Documentation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589520" y="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BEAF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HAG_Ai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11480" y="56692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400" kern="0" dirty="0">
                <a:solidFill>
                  <a:srgbClr val="0EA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11480" y="822960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&amp; procedures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411480" y="1371600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Encrypted, offsite, nightly — and self-contained (the dump leaves the box already encrypted).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11480" y="1828800"/>
            <a:ext cx="190881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1F3864">
                <a:alpha val="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11480" y="1828800"/>
            <a:ext cx="54864" cy="11887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57784" y="1956816"/>
            <a:ext cx="16344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pg_dump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57784" y="2267712"/>
            <a:ext cx="163449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Each DB (default / control / tenant) → .sql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548890" y="1828800"/>
            <a:ext cx="190881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1F3864">
                <a:alpha val="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548890" y="1828800"/>
            <a:ext cx="54864" cy="11887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95194" y="1956816"/>
            <a:ext cx="16344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Encrypt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695194" y="2267712"/>
            <a:ext cx="163449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Client-side AES (PBKDF2 + Fernet) with the passphrase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686300" y="1828800"/>
            <a:ext cx="190881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1F3864">
                <a:alpha val="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86300" y="1828800"/>
            <a:ext cx="54864" cy="1188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32604" y="1956816"/>
            <a:ext cx="16344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Upload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32604" y="2267712"/>
            <a:ext cx="163449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Push to Cloudflare R2 via S3 API (boto3)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823710" y="1828800"/>
            <a:ext cx="190881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1F3864">
                <a:alpha val="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823710" y="1828800"/>
            <a:ext cx="54864" cy="1188720"/>
          </a:xfrm>
          <a:prstGeom prst="rect">
            <a:avLst/>
          </a:prstGeom>
          <a:solidFill>
            <a:srgbClr val="0EA5A4"/>
          </a:solidFill>
          <a:ln w="12700">
            <a:solidFill>
              <a:srgbClr val="0EA5A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970014" y="1956816"/>
            <a:ext cx="16344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Prune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970014" y="2267712"/>
            <a:ext cx="163449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Keep newest per scope; drop old</a:t>
            </a:r>
            <a:endParaRPr lang="en-US" sz="9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3246120"/>
          <a:ext cx="493776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35661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Schedule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Nightly 02:30 UTC (bizclinik-backup.timer)</a:t>
                      </a:r>
                      <a:endParaRPr lang="en-US" sz="9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Destination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R2 bucket bizclinik-backups, per-scope folders</a:t>
                      </a:r>
                      <a:endParaRPr lang="en-US" sz="9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Retention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retain_days 30, min 7 per scope</a:t>
                      </a:r>
                      <a:endParaRPr lang="en-US" sz="9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/etc/bizclinik/backup.env + pg.env</a:t>
                      </a:r>
                      <a:endParaRPr lang="en-US" sz="9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9"/>
                    </a:solidFill>
                  </a:tcPr>
                </a:tc>
              </a:tr>
            </a:tbl>
          </a:graphicData>
        </a:graphic>
      </p:graphicFrame>
      <p:sp>
        <p:nvSpPr>
          <p:cNvPr id="26" name="Text 23"/>
          <p:cNvSpPr/>
          <p:nvPr/>
        </p:nvSpPr>
        <p:spPr>
          <a:xfrm>
            <a:off x="5486400" y="32461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run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5486400" y="3566160"/>
            <a:ext cx="3246120" cy="960120"/>
          </a:xfrm>
          <a:prstGeom prst="rect">
            <a:avLst/>
          </a:prstGeom>
          <a:solidFill>
            <a:srgbClr val="0B1220"/>
          </a:solidFill>
          <a:ln w="6350">
            <a:solidFill>
              <a:srgbClr val="16284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623560" y="365760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D1FA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scripts/backup.py snapshot   # + offsite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D1FA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scripts/backup.py offsite    # push only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D1FA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scripts/backup.py list</a:t>
            </a:r>
            <a:endParaRPr lang="en-US" sz="950" dirty="0"/>
          </a:p>
        </p:txBody>
      </p:sp>
      <p:sp>
        <p:nvSpPr>
          <p:cNvPr id="29" name="Text 26"/>
          <p:cNvSpPr/>
          <p:nvPr/>
        </p:nvSpPr>
        <p:spPr>
          <a:xfrm>
            <a:off x="8229600" y="482346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16 / 20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65760"/>
            <a:ext cx="9144000" cy="41148"/>
          </a:xfrm>
          <a:prstGeom prst="rect">
            <a:avLst/>
          </a:prstGeom>
          <a:solidFill>
            <a:srgbClr val="0EA5A4"/>
          </a:solidFill>
          <a:ln w="12700">
            <a:solidFill>
              <a:srgbClr val="0EA5A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BizClinik ERP — Technical Documentation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589520" y="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BEAF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HAG_Ai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11480" y="56692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400" kern="0" dirty="0">
                <a:solidFill>
                  <a:srgbClr val="0EA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11480" y="822960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Disaster recovery &amp; the recovery secret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411480" y="1371600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If the droplet is lost, the books survive in R2 — provided you have the passphrase.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11480" y="1783080"/>
            <a:ext cx="4114800" cy="28346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1F3864">
                <a:alpha val="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11480" y="1783080"/>
            <a:ext cx="54864" cy="28346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1874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Restore from R2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94360" y="2240280"/>
            <a:ext cx="38404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Provision a fresh droplet + PostgreSQL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Download the encrypted .sql.enc from R2 (S3 API)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Decrypt with BIZCLINIK_BACKUP_PASSPHRASE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psql restore each .sql into its database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Set PG* + backend=postgres; restart services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Re-point Cloudflare tunnel / DNS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09160" y="1783080"/>
            <a:ext cx="4023360" cy="28346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1F3864">
                <a:alpha val="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09160" y="1783080"/>
            <a:ext cx="54864" cy="28346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92040" y="1874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recovery secret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92040" y="224028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BIZCLINIK_BACKUP_PASSPHRASE is the ONLY key that decrypts the R2 backups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Stored on the box (/etc/bizclinik/backup.env) AND must be kept in your password manager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Lose it → offsite backups are unrecoverable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892040" y="365760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F386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Rollback (post-migration): set BIZCLINIK_DB_BACKEND=sqlite and restart — reverts to the frozen pre-cutover SQLite books (loses any writes made after cutover).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8229600" y="482346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17 / 20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65760"/>
            <a:ext cx="9144000" cy="41148"/>
          </a:xfrm>
          <a:prstGeom prst="rect">
            <a:avLst/>
          </a:prstGeom>
          <a:solidFill>
            <a:srgbClr val="0EA5A4"/>
          </a:solidFill>
          <a:ln w="12700">
            <a:solidFill>
              <a:srgbClr val="0EA5A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BizClinik ERP — Technical Documentation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589520" y="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BEAF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HAG_Ai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11480" y="56692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400" kern="0" dirty="0">
                <a:solidFill>
                  <a:srgbClr val="0EA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11480" y="822960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Monitoring, security &amp; API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411480" y="17830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" y="2103120"/>
            <a:ext cx="27432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Health watchdog every 5 min: checks erp/api/tenant; auto-restarts a failed service + emails alert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GitHub Actions CI on every push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Sentry hook (set SENTRY_DSN to enable)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Restart=always on app services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337560" y="17830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model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337560" y="2103120"/>
            <a:ext cx="27432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No public app ports — Cloudflare tunnel only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Login: per-tenant users + roles; 5-try lockout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REST: per-tenant API keys (SHA-256 hashed)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Webhooks: provider signature verified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Secrets in chmod-600 env files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263640" y="17830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(key in X-API-Key)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263640" y="2103120"/>
            <a:ext cx="2514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/customers /products /invoices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/reports/* (TB, P&amp;L, BS)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/bank/statements (bank feed)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/crm/* /billing/*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/billing/webhook/{provider}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229600" y="482346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18 / 20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65760"/>
            <a:ext cx="9144000" cy="41148"/>
          </a:xfrm>
          <a:prstGeom prst="rect">
            <a:avLst/>
          </a:prstGeom>
          <a:solidFill>
            <a:srgbClr val="0EA5A4"/>
          </a:solidFill>
          <a:ln w="12700">
            <a:solidFill>
              <a:srgbClr val="0EA5A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BizClinik ERP — Technical Documentation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589520" y="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BEAF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HAG_Ai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11480" y="56692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400" kern="0" dirty="0">
                <a:solidFill>
                  <a:srgbClr val="0EA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RUNBOOK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11480" y="822960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operations — quick reference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411480" y="1783080"/>
            <a:ext cx="8321040" cy="2788920"/>
          </a:xfrm>
          <a:prstGeom prst="rect">
            <a:avLst/>
          </a:prstGeom>
          <a:solidFill>
            <a:srgbClr val="0B1220"/>
          </a:solidFill>
          <a:ln w="6350">
            <a:solidFill>
              <a:srgbClr val="16284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874520"/>
            <a:ext cx="804672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D1FA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Deploy an update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D1FA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ssh root@165.227.224.154 ; cd /opt/bizclinik-erp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D1FA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pull --ff-only &amp;&amp; python -m bizclinik_erp migrate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D1FA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systemctl restart bizclinik-erp bizclinik-api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D1FA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Add a tenant + its free HTTPS subdomain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D1FA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-m bizclinik_erp tenant-create &lt;slug&gt; "&lt;Name&gt;" --admin-password ***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D1FA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deploy/linux/add-tenant-subdomain.sh &lt;slug&gt;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D1FA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Backup now / restore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D1FA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scripts/backup.py snapshot          # pg_dump -&gt; encrypt -&gt; R2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D1FA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restore: download .sql.enc -&gt; decrypt(passphrase) -&gt; psql -d &lt;db&gt; -f dump.sql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D1FA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Health / status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D1FA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systemctl is-active bizclinik-erp bizclinik-api cloudflared postgresql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8229600" y="482346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19 / 20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5544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Production-ready.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566928" y="2377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BEAF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Documented, tested, monitored, and backed up offsite.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3246120"/>
            <a:ext cx="2651760" cy="914400"/>
          </a:xfrm>
          <a:prstGeom prst="rect">
            <a:avLst/>
          </a:prstGeom>
          <a:solidFill>
            <a:srgbClr val="16284F"/>
          </a:solidFill>
          <a:ln w="19050">
            <a:solidFill>
              <a:srgbClr val="0EA5A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33375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EA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36118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150+ (CI green)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383280" y="3246120"/>
            <a:ext cx="2651760" cy="914400"/>
          </a:xfrm>
          <a:prstGeom prst="rect">
            <a:avLst/>
          </a:prstGeom>
          <a:solidFill>
            <a:srgbClr val="16284F"/>
          </a:solidFill>
          <a:ln w="19050">
            <a:solidFill>
              <a:srgbClr val="0EA5A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66160" y="33375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EA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566160" y="36118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16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17920" y="3246120"/>
            <a:ext cx="2651760" cy="914400"/>
          </a:xfrm>
          <a:prstGeom prst="rect">
            <a:avLst/>
          </a:prstGeom>
          <a:solidFill>
            <a:srgbClr val="16284F"/>
          </a:solidFill>
          <a:ln w="19050">
            <a:solidFill>
              <a:srgbClr val="0EA5A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0" y="33375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EA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00800" y="36118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Encrypted → R2 nightly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0" y="5033772"/>
            <a:ext cx="9144000" cy="109728"/>
          </a:xfrm>
          <a:prstGeom prst="rect">
            <a:avLst/>
          </a:prstGeom>
          <a:solidFill>
            <a:srgbClr val="0EA5A4"/>
          </a:solidFill>
          <a:ln w="12700">
            <a:solidFill>
              <a:srgbClr val="0EA5A4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HAG_Ai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BizClinik ERP — Technical Documentation</dc:title>
  <dc:subject>PptxGenJS Presentation</dc:subject>
  <dc:creator>HAG_Ai</dc:creator>
  <cp:lastModifiedBy>HAG_Ai</cp:lastModifiedBy>
  <cp:revision>1</cp:revision>
  <dcterms:created xsi:type="dcterms:W3CDTF">2026-06-05T21:03:57Z</dcterms:created>
  <dcterms:modified xsi:type="dcterms:W3CDTF">2026-06-05T21:03:57Z</dcterms:modified>
</cp:coreProperties>
</file>