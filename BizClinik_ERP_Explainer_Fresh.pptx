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0" y="4978908"/>
            <a:ext cx="3291840" cy="164592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41732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0" b="1" spc="-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BizClinik</a:t>
            </a:r>
            <a:endParaRPr lang="en-US" sz="6200" dirty="0"/>
          </a:p>
        </p:txBody>
      </p:sp>
      <p:sp>
        <p:nvSpPr>
          <p:cNvPr id="4" name="Text 2"/>
          <p:cNvSpPr/>
          <p:nvPr/>
        </p:nvSpPr>
        <p:spPr>
          <a:xfrm>
            <a:off x="548640" y="2212848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0" b="1" spc="-200" kern="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</a:t>
            </a:r>
            <a:endParaRPr lang="en-US" sz="6200" dirty="0"/>
          </a:p>
        </p:txBody>
      </p:sp>
      <p:sp>
        <p:nvSpPr>
          <p:cNvPr id="5" name="Text 3"/>
          <p:cNvSpPr/>
          <p:nvPr/>
        </p:nvSpPr>
        <p:spPr>
          <a:xfrm>
            <a:off x="566928" y="3200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BEA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Real accounting software for Nigerian businesses — on the web.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66928" y="45034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AE6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HAG_Ai  ·  erp.hagai.online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65760"/>
            <a:ext cx="9144000" cy="41148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BizClinik ERP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BEA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erp.hagai.online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640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books live in too many places.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57200" y="153619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Spreadsheets, a notebook, WhatsApp receipts, the bank app — and nothing agrees.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2011680"/>
            <a:ext cx="41148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88900" dist="25400" dir="5400000">
              <a:srgbClr val="1F3864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2011680"/>
            <a:ext cx="64008" cy="8686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39496" y="2212848"/>
            <a:ext cx="502920" cy="50292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9496" y="2212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161288" y="217627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Spreadsheets break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61288" y="24688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One wrong cell and the numbers stop adding up.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09160" y="2011680"/>
            <a:ext cx="41148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88900" dist="25400" dir="5400000">
              <a:srgbClr val="1F3864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09160" y="2011680"/>
            <a:ext cx="64008" cy="8686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928616" y="2212848"/>
            <a:ext cx="502920" cy="50292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28616" y="2212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5550408" y="217627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truth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550408" y="24688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Sales here, expenses there, cash somewhere else.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0040" y="3108960"/>
            <a:ext cx="41148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88900" dist="25400" dir="5400000">
              <a:srgbClr val="1F3864">
                <a:alpha val="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0040" y="3108960"/>
            <a:ext cx="64008" cy="8686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9496" y="3310128"/>
            <a:ext cx="502920" cy="5029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9496" y="33101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1161288" y="327355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is guesswork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161288" y="35661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VAT, PAYE and WHT worked out by hand, late.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09160" y="3108960"/>
            <a:ext cx="41148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88900" dist="25400" dir="5400000">
              <a:srgbClr val="1F3864">
                <a:alpha val="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709160" y="3108960"/>
            <a:ext cx="64008" cy="8686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28616" y="3310128"/>
            <a:ext cx="502920" cy="5029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28616" y="33101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5550408" y="327355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trust the total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550408" y="35661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"How much did we actually make?" — nobody's sure.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229600" y="4823460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 / 13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65760"/>
            <a:ext cx="9144000" cy="41148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BizClinik ERP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BEA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erp.hagai.online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640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 that keeps your books right.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57200" y="153619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BizClinik ERP runs your whole business on a proper double-entry ledger — automatically.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14400" y="1965960"/>
            <a:ext cx="7315200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88900" dist="25400" dir="5400000">
              <a:srgbClr val="1F3864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1965960"/>
            <a:ext cx="64008" cy="228600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34440" y="224028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Every sale, purchase, payment and payroll run posts to the ledger by itself.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You get accurate books, real reports, and Nigerian tax handled — without an accountant babysitting a spreadsheet.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234440" y="3291840"/>
            <a:ext cx="1508760" cy="347472"/>
          </a:xfrm>
          <a:prstGeom prst="roundRect">
            <a:avLst>
              <a:gd name="adj" fmla="val 21053"/>
            </a:avLst>
          </a:prstGeom>
          <a:solidFill>
            <a:srgbClr val="E6FFFA"/>
          </a:solidFill>
          <a:ln w="9525">
            <a:solidFill>
              <a:srgbClr val="0EA5A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34440" y="3291840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926080" y="3291840"/>
            <a:ext cx="1508760" cy="347472"/>
          </a:xfrm>
          <a:prstGeom prst="roundRect">
            <a:avLst>
              <a:gd name="adj" fmla="val 21053"/>
            </a:avLst>
          </a:prstGeom>
          <a:solidFill>
            <a:srgbClr val="E6FFFA"/>
          </a:solidFill>
          <a:ln w="9525">
            <a:solidFill>
              <a:srgbClr val="0EA5A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26080" y="3291840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17720" y="3291840"/>
            <a:ext cx="1508760" cy="347472"/>
          </a:xfrm>
          <a:prstGeom prst="roundRect">
            <a:avLst>
              <a:gd name="adj" fmla="val 21053"/>
            </a:avLst>
          </a:prstGeom>
          <a:solidFill>
            <a:srgbClr val="E6FFFA"/>
          </a:solidFill>
          <a:ln w="9525">
            <a:solidFill>
              <a:srgbClr val="0EA5A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0" y="3291840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309360" y="3291840"/>
            <a:ext cx="1508760" cy="347472"/>
          </a:xfrm>
          <a:prstGeom prst="roundRect">
            <a:avLst>
              <a:gd name="adj" fmla="val 21053"/>
            </a:avLst>
          </a:prstGeom>
          <a:solidFill>
            <a:srgbClr val="E6FFFA"/>
          </a:solidFill>
          <a:ln w="9525">
            <a:solidFill>
              <a:srgbClr val="0EA5A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3291840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Payroll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234440" y="3749040"/>
            <a:ext cx="1508760" cy="347472"/>
          </a:xfrm>
          <a:prstGeom prst="roundRect">
            <a:avLst>
              <a:gd name="adj" fmla="val 21053"/>
            </a:avLst>
          </a:prstGeom>
          <a:solidFill>
            <a:srgbClr val="E6FFFA"/>
          </a:solidFill>
          <a:ln w="9525">
            <a:solidFill>
              <a:srgbClr val="0EA5A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34440" y="3749040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926080" y="3749040"/>
            <a:ext cx="1508760" cy="347472"/>
          </a:xfrm>
          <a:prstGeom prst="roundRect">
            <a:avLst>
              <a:gd name="adj" fmla="val 21053"/>
            </a:avLst>
          </a:prstGeom>
          <a:solidFill>
            <a:srgbClr val="E6FFFA"/>
          </a:solidFill>
          <a:ln w="9525">
            <a:solidFill>
              <a:srgbClr val="0EA5A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26080" y="3749040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17720" y="3749040"/>
            <a:ext cx="1508760" cy="347472"/>
          </a:xfrm>
          <a:prstGeom prst="roundRect">
            <a:avLst>
              <a:gd name="adj" fmla="val 21053"/>
            </a:avLst>
          </a:prstGeom>
          <a:solidFill>
            <a:srgbClr val="E6FFFA"/>
          </a:solidFill>
          <a:ln w="9525">
            <a:solidFill>
              <a:srgbClr val="0EA5A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7720" y="3749040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229600" y="4823460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 / 13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65760"/>
            <a:ext cx="9144000" cy="41148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BizClinik ERP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BEA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erp.hagai.online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640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IT'S DIFFERENT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ledger — not a spreadsheet.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57200" y="153619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Double-entry means every transaction balances. The books are always trustworthy.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14400" y="2286000"/>
            <a:ext cx="3291840" cy="6400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22860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206240" y="228600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937760" y="2286000"/>
            <a:ext cx="3291840" cy="64008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22860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Liabilities  +  Equity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14400" y="329184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F386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Enforced on every entry — plus a full audit trail of who did what, and period locks so closed months can't silently change.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29600" y="4823460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 / 13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65760"/>
            <a:ext cx="9144000" cy="41148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BizClinik ERP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BEA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erp.hagai.online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640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GET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your business runs on.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278892" y="1783080"/>
            <a:ext cx="278892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88900" dist="25400" dir="5400000">
              <a:srgbClr val="1F3864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8892" y="1783080"/>
            <a:ext cx="64008" cy="84124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8348" y="1984248"/>
            <a:ext cx="502920" cy="5029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8348" y="19842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₦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120140" y="194767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Invoicing &amp; sales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20140" y="2240280"/>
            <a:ext cx="18288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Quotes, invoices, receipts, customer statements.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177540" y="1783080"/>
            <a:ext cx="278892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88900" dist="25400" dir="5400000">
              <a:srgbClr val="1F3864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177540" y="1783080"/>
            <a:ext cx="64008" cy="84124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96996" y="1984248"/>
            <a:ext cx="502920" cy="5029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96996" y="19842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018788" y="194767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 &amp; expenses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018788" y="2240280"/>
            <a:ext cx="18288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Bills, payments, supplier tracking.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076188" y="1783080"/>
            <a:ext cx="278892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88900" dist="25400" dir="5400000">
              <a:srgbClr val="1F3864">
                <a:alpha val="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076188" y="1783080"/>
            <a:ext cx="64008" cy="84124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95644" y="1984248"/>
            <a:ext cx="502920" cy="5029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95644" y="19842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▦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917436" y="194767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917436" y="2240280"/>
            <a:ext cx="18288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Stock levels, average cost, automatic COGS.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78892" y="2752344"/>
            <a:ext cx="278892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88900" dist="25400" dir="5400000">
              <a:srgbClr val="1F3864">
                <a:alpha val="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278892" y="2752344"/>
            <a:ext cx="64008" cy="84124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8348" y="2953512"/>
            <a:ext cx="502920" cy="5029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8348" y="29535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1120140" y="291693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Payroll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120140" y="3209544"/>
            <a:ext cx="18288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Nigerian graduated PAYE, payslips.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177540" y="2752344"/>
            <a:ext cx="278892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88900" dist="25400" dir="5400000">
              <a:srgbClr val="1F3864">
                <a:alpha val="6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3177540" y="2752344"/>
            <a:ext cx="64008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96996" y="2953512"/>
            <a:ext cx="502920" cy="50292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96996" y="29535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🏦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4018788" y="291693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018788" y="3209544"/>
            <a:ext cx="18288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Import statements, auto-match, reconcile.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076188" y="2752344"/>
            <a:ext cx="278892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88900" dist="25400" dir="5400000">
              <a:srgbClr val="1F3864">
                <a:alpha val="6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076188" y="2752344"/>
            <a:ext cx="64008" cy="84124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295644" y="2953512"/>
            <a:ext cx="502920" cy="5029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295644" y="29535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700" dirty="0"/>
          </a:p>
        </p:txBody>
      </p:sp>
      <p:sp>
        <p:nvSpPr>
          <p:cNvPr id="42" name="Text 40"/>
          <p:cNvSpPr/>
          <p:nvPr/>
        </p:nvSpPr>
        <p:spPr>
          <a:xfrm>
            <a:off x="6917436" y="291693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6917436" y="3209544"/>
            <a:ext cx="18288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VAT, withholding tax, FIRS e-invoice drafts.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278892" y="3721608"/>
            <a:ext cx="278892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88900" dist="25400" dir="5400000">
              <a:srgbClr val="1F3864">
                <a:alpha val="6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278892" y="3721608"/>
            <a:ext cx="64008" cy="84124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8348" y="3922776"/>
            <a:ext cx="502920" cy="5029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8348" y="39227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1700" dirty="0"/>
          </a:p>
        </p:txBody>
      </p:sp>
      <p:sp>
        <p:nvSpPr>
          <p:cNvPr id="48" name="Text 46"/>
          <p:cNvSpPr/>
          <p:nvPr/>
        </p:nvSpPr>
        <p:spPr>
          <a:xfrm>
            <a:off x="1120140" y="38862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1120140" y="4178808"/>
            <a:ext cx="18288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P&amp;L, Balance Sheet, Cash Flow, agings.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177540" y="3721608"/>
            <a:ext cx="278892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88900" dist="25400" dir="5400000">
              <a:srgbClr val="1F3864">
                <a:alpha val="6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3177540" y="3721608"/>
            <a:ext cx="64008" cy="841248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396996" y="3922776"/>
            <a:ext cx="502920" cy="502920"/>
          </a:xfrm>
          <a:prstGeom prst="ellipse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396996" y="39227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🔁</a:t>
            </a:r>
            <a:endParaRPr lang="en-US" sz="1700" dirty="0"/>
          </a:p>
        </p:txBody>
      </p:sp>
      <p:sp>
        <p:nvSpPr>
          <p:cNvPr id="54" name="Text 52"/>
          <p:cNvSpPr/>
          <p:nvPr/>
        </p:nvSpPr>
        <p:spPr>
          <a:xfrm>
            <a:off x="4018788" y="38862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4018788" y="4178808"/>
            <a:ext cx="18288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Recurring invoices, month-end close.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6076188" y="3721608"/>
            <a:ext cx="278892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88900" dist="25400" dir="5400000">
              <a:srgbClr val="1F3864">
                <a:alpha val="6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6076188" y="3721608"/>
            <a:ext cx="64008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295644" y="3922776"/>
            <a:ext cx="502920" cy="50292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295644" y="39227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</a:t>
            </a:r>
            <a:endParaRPr lang="en-US" sz="1700" dirty="0"/>
          </a:p>
        </p:txBody>
      </p:sp>
      <p:sp>
        <p:nvSpPr>
          <p:cNvPr id="60" name="Text 58"/>
          <p:cNvSpPr/>
          <p:nvPr/>
        </p:nvSpPr>
        <p:spPr>
          <a:xfrm>
            <a:off x="6917436" y="38862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</a:t>
            </a:r>
            <a:endParaRPr lang="en-US" sz="1400" dirty="0"/>
          </a:p>
        </p:txBody>
      </p:sp>
      <p:sp>
        <p:nvSpPr>
          <p:cNvPr id="61" name="Text 59"/>
          <p:cNvSpPr/>
          <p:nvPr/>
        </p:nvSpPr>
        <p:spPr>
          <a:xfrm>
            <a:off x="6917436" y="4178808"/>
            <a:ext cx="18288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Leads, pipeline, follow-ups → customers.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229600" y="4823460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5 / 13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65760"/>
            <a:ext cx="9144000" cy="41148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BizClinik ERP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BEA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erp.hagai.online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640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the work once. The books update themselves.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57200" y="153619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Example: raising one invoice.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103120"/>
            <a:ext cx="1885950" cy="1737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88900" dist="25400" dir="5400000">
              <a:srgbClr val="1F3864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2103120"/>
            <a:ext cx="64008" cy="173736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286000"/>
            <a:ext cx="457200" cy="457200"/>
          </a:xfrm>
          <a:prstGeom prst="ellipse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21792" y="2834640"/>
            <a:ext cx="15750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invoice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21792" y="3182112"/>
            <a:ext cx="157505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Pick a customer, add items. Done.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571750" y="2103120"/>
            <a:ext cx="1885950" cy="1737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88900" dist="25400" dir="5400000">
              <a:srgbClr val="1F3864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571750" y="2103120"/>
            <a:ext cx="64008" cy="173736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54630" y="2286000"/>
            <a:ext cx="457200" cy="457200"/>
          </a:xfrm>
          <a:prstGeom prst="ellipse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5463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736342" y="2834640"/>
            <a:ext cx="15750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 update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2736342" y="3182112"/>
            <a:ext cx="157505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Sales, VAT, receivables and stock all post automatically.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86300" y="2103120"/>
            <a:ext cx="1885950" cy="1737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88900" dist="25400" dir="5400000">
              <a:srgbClr val="1F3864">
                <a:alpha val="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86300" y="2103120"/>
            <a:ext cx="64008" cy="173736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69180" y="2286000"/>
            <a:ext cx="457200" cy="457200"/>
          </a:xfrm>
          <a:prstGeom prst="ellipse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6918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850892" y="2834640"/>
            <a:ext cx="15750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paid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850892" y="3182112"/>
            <a:ext cx="157505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Record the payment; the bank and customer balance update.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800850" y="2103120"/>
            <a:ext cx="1885950" cy="1737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88900" dist="25400" dir="5400000">
              <a:srgbClr val="1F3864">
                <a:alpha val="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800850" y="2103120"/>
            <a:ext cx="64008" cy="173736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983730" y="2286000"/>
            <a:ext cx="457200" cy="457200"/>
          </a:xfrm>
          <a:prstGeom prst="ellipse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98373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965442" y="2834640"/>
            <a:ext cx="15750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truth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965442" y="3182112"/>
            <a:ext cx="157505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It's already in your P&amp;L, balance sheet and aging.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8229600" y="4823460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6 / 13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65760"/>
            <a:ext cx="9144000" cy="41148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BizClinik ERP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BEA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erp.hagai.online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640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FOR NIGERIA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rules, handled out of the box.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57200" y="153619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Not a foreign tool bent to fit — built for how Nigerian SMEs actually operate.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8892" y="1965960"/>
            <a:ext cx="278892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88900" dist="25400" dir="5400000">
              <a:srgbClr val="1F3864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8892" y="1965960"/>
            <a:ext cx="64008" cy="11430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3484" y="2093976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Graduated PAYE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43484" y="2423160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Correct banded pay-as-you-earn, not a flat guess.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177540" y="1965960"/>
            <a:ext cx="278892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88900" dist="25400" dir="5400000">
              <a:srgbClr val="1F3864">
                <a:alpha val="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177540" y="1965960"/>
            <a:ext cx="64008" cy="11430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42132" y="2093976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VAT &amp; WHT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342132" y="2423160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7.5% VAT and withholding tax, with WHT certificates.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076188" y="1965960"/>
            <a:ext cx="278892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88900" dist="25400" dir="5400000">
              <a:srgbClr val="1F3864">
                <a:alpha val="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076188" y="1965960"/>
            <a:ext cx="64008" cy="11430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40780" y="2093976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 e-invoice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240780" y="2423160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Generates the FIRS-style e-invoice + QR (MBS-ready).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78892" y="3273552"/>
            <a:ext cx="278892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88900" dist="25400" dir="5400000">
              <a:srgbClr val="1F3864">
                <a:alpha val="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8892" y="3273552"/>
            <a:ext cx="64008" cy="114300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3484" y="340156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Naira-first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43484" y="3730752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₦ functional currency, with foreign-currency support.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77540" y="3273552"/>
            <a:ext cx="278892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88900" dist="25400" dir="5400000">
              <a:srgbClr val="1F3864">
                <a:alpha val="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177540" y="3273552"/>
            <a:ext cx="64008" cy="1143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42132" y="340156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banks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342132" y="3730752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Imports GTB, Access, Zenith, FBN, Moniepoint statements.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076188" y="3273552"/>
            <a:ext cx="278892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88900" dist="25400" dir="5400000">
              <a:srgbClr val="1F3864">
                <a:alpha val="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76188" y="3273552"/>
            <a:ext cx="64008" cy="1143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40780" y="340156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locally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240780" y="3730752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By HAG_Ai, for Nigerian businesses.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8229600" y="4823460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 / 13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65760"/>
            <a:ext cx="9144000" cy="41148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BizClinik ERP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BEA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erp.hagai.online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640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ONE BUSINESS — OR MANY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every business from one login.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57200" y="153619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Each business gets its own private books and its own web address.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11480" y="2011680"/>
            <a:ext cx="402336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88900" dist="25400" dir="5400000">
              <a:srgbClr val="1F3864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11480" y="2011680"/>
            <a:ext cx="64008" cy="9144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" y="2212848"/>
            <a:ext cx="502920" cy="5029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0936" y="2212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252728" y="21762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separate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52728" y="246888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Each business is an isolated database — no mixing.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09160" y="2011680"/>
            <a:ext cx="402336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88900" dist="25400" dir="5400000">
              <a:srgbClr val="1F3864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09160" y="2011680"/>
            <a:ext cx="64008" cy="91440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928616" y="2212848"/>
            <a:ext cx="502920" cy="502920"/>
          </a:xfrm>
          <a:prstGeom prst="ellipse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28616" y="2212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5550408" y="21762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subdomain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550408" y="246888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yourbusiness.erp.hagai.online lands on its own books.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1480" y="3154680"/>
            <a:ext cx="402336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88900" dist="25400" dir="5400000">
              <a:srgbClr val="1F3864">
                <a:alpha val="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11480" y="3154680"/>
            <a:ext cx="64008" cy="9144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0936" y="3355848"/>
            <a:ext cx="502920" cy="50292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0936" y="3355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🎨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1252728" y="33192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branding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252728" y="361188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Per-business invoice logo, colour and details.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09160" y="3154680"/>
            <a:ext cx="402336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88900" dist="25400" dir="5400000">
              <a:srgbClr val="1F3864">
                <a:alpha val="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709160" y="3154680"/>
            <a:ext cx="64008" cy="9144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28616" y="3355848"/>
            <a:ext cx="502920" cy="5029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28616" y="3355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5550408" y="33192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&amp; roles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550408" y="361188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Give staff the right access per business.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229600" y="4823460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 / 13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65760"/>
            <a:ext cx="9144000" cy="41148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BizClinik ERP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BEA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erp.hagai.online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640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PAID &amp; GROW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payments and win more customers.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57200" y="153619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Subscriptions and a built-in CRM, connected to your books.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011680"/>
            <a:ext cx="384048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88900" dist="25400" dir="5400000">
              <a:srgbClr val="1F3864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011680"/>
            <a:ext cx="64008" cy="219456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214884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payments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251460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Accept payments via Paystack, Flutterwave or Moniepoint — switch provider any time, no rebuild. Subscriptions activate automatically on payment.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663440" y="2011680"/>
            <a:ext cx="384048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88900" dist="25400" dir="5400000">
              <a:srgbClr val="1F3864">
                <a:alpha val="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2011680"/>
            <a:ext cx="64008" cy="21945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92040" y="214884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CRM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892040" y="251460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Track leads, move deals through a pipeline, and set follow-up reminders. Win a deal and it becomes a customer you can invoice — in one click.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229600" y="4823460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 / 13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65760"/>
            <a:ext cx="9144000" cy="41148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BizClinik ERP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BEA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erp.hagai.online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640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BY DESIGN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data is protected — and recoverable.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57200" y="153619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boring, essential stuff, done properly.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8892" y="1965960"/>
            <a:ext cx="278892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88900" dist="25400" dir="5400000">
              <a:srgbClr val="1F3864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8892" y="1965960"/>
            <a:ext cx="64008" cy="10972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3484" y="2093976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43484" y="242316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Every change is recorded: who, what, when.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177540" y="1965960"/>
            <a:ext cx="278892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88900" dist="25400" dir="5400000">
              <a:srgbClr val="1F3864">
                <a:alpha val="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177540" y="1965960"/>
            <a:ext cx="64008" cy="10972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42132" y="2093976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&amp; access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342132" y="242316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Staff see only what they should.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076188" y="1965960"/>
            <a:ext cx="278892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88900" dist="25400" dir="5400000">
              <a:srgbClr val="1F3864">
                <a:alpha val="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076188" y="1965960"/>
            <a:ext cx="64008" cy="10972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40780" y="2093976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backups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240780" y="242316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Nightly, encrypted, stored safely off-site.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78892" y="3227832"/>
            <a:ext cx="278892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88900" dist="25400" dir="5400000">
              <a:srgbClr val="1F3864">
                <a:alpha val="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8892" y="3227832"/>
            <a:ext cx="64008" cy="10972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3484" y="335584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access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43484" y="368503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open ports; traffic over an encrypted tunnel.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77540" y="3227832"/>
            <a:ext cx="278892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88900" dist="25400" dir="5400000">
              <a:srgbClr val="1F3864">
                <a:alpha val="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177540" y="3227832"/>
            <a:ext cx="64008" cy="10972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42132" y="335584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Always-on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342132" y="368503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Auto-restart + health checks keep it running.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076188" y="3227832"/>
            <a:ext cx="278892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88900" dist="25400" dir="5400000">
              <a:srgbClr val="1F3864">
                <a:alpha val="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76188" y="3227832"/>
            <a:ext cx="64008" cy="109728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40780" y="335584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database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240780" y="368503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PostgreSQL — handles many users at once.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8229600" y="4823460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10 / 13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65760"/>
            <a:ext cx="9144000" cy="41148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BizClinik ERP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BEA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erp.hagai.online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640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ANYWHERE, ANY DEVICE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install. Just open the link.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57200" y="153619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Works on a laptop in the office and a phone on the move.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11480" y="2011680"/>
            <a:ext cx="402336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88900" dist="25400" dir="5400000">
              <a:srgbClr val="1F3864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11480" y="2011680"/>
            <a:ext cx="64008" cy="9144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" y="2212848"/>
            <a:ext cx="502920" cy="5029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0936" y="2212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252728" y="21762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web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52728" y="246888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Open erp.hagai.online in any browser — no setup.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09160" y="2011680"/>
            <a:ext cx="402336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88900" dist="25400" dir="5400000">
              <a:srgbClr val="1F3864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09160" y="2011680"/>
            <a:ext cx="64008" cy="91440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928616" y="2212848"/>
            <a:ext cx="502920" cy="502920"/>
          </a:xfrm>
          <a:prstGeom prst="ellipse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28616" y="2212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5550408" y="21762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Mobile-friendly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550408" y="246888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Responsive layout for phone-first data entry.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1480" y="3154680"/>
            <a:ext cx="402336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88900" dist="25400" dir="5400000">
              <a:srgbClr val="1F3864">
                <a:alpha val="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11480" y="3154680"/>
            <a:ext cx="64008" cy="9144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0936" y="3355848"/>
            <a:ext cx="502920" cy="50292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0936" y="3355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1252728" y="33192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current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252728" y="361188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Updates roll out centrally; you're always on the latest.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09160" y="3154680"/>
            <a:ext cx="402336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88900" dist="25400" dir="5400000">
              <a:srgbClr val="1F3864">
                <a:alpha val="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709160" y="3154680"/>
            <a:ext cx="64008" cy="9144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28616" y="3355848"/>
            <a:ext cx="502920" cy="5029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28616" y="3355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🔌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5550408" y="33192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out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550408" y="361188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REST API + webhooks to plug into other tools.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229600" y="4823460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11 / 13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65760"/>
            <a:ext cx="9144000" cy="41148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BizClinik ERP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BEA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erp.hagai.online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640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free. Grow when you're ready. Annual billing = 2 months free.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365760" y="1920240"/>
            <a:ext cx="265176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88900" dist="25400" dir="5400000">
              <a:srgbClr val="1F3864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1920240"/>
            <a:ext cx="64008" cy="24688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08483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" y="245059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₦0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48640" y="297180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 business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Up to 2 users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Core accounting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46120" y="1920240"/>
            <a:ext cx="265176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88900" dist="25400" dir="5400000">
              <a:srgbClr val="1F3864">
                <a:alpha val="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46120" y="1920240"/>
            <a:ext cx="64008" cy="246888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29000" y="208483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429000" y="245059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₦50,000/mo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429000" y="297180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Up to 5 users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Invoicing + bank rec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Annual: ₦500,000/yr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26480" y="1920240"/>
            <a:ext cx="265176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88900" dist="25400" dir="5400000">
              <a:srgbClr val="1F3864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126480" y="1920240"/>
            <a:ext cx="64008" cy="24688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09360" y="208483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309360" y="245059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₦150,000/mo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309360" y="297180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Unlimited users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Multi-currency · CRM · API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Annual: ₦1,500,000/yr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Indicative pricing — set to your market.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229600" y="4823460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12 / 13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your business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21488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books you can trust.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66928" y="3063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BEA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Open it in your browser and start today — no installation, no spreadsheets.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3703320"/>
            <a:ext cx="3840480" cy="731520"/>
          </a:xfrm>
          <a:prstGeom prst="roundRect">
            <a:avLst>
              <a:gd name="adj" fmla="val 12500"/>
            </a:avLst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370332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2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erp.hagai.online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754880" y="370332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AE6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HAG_Ai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0" y="5033772"/>
            <a:ext cx="9144000" cy="109728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HAG_Ai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BizClinik ERP — Explainer</dc:title>
  <dc:subject>PptxGenJS Presentation</dc:subject>
  <dc:creator>HAG_Ai</dc:creator>
  <cp:lastModifiedBy>HAG_Ai</cp:lastModifiedBy>
  <cp:revision>1</cp:revision>
  <dcterms:created xsi:type="dcterms:W3CDTF">2026-06-12T01:04:29Z</dcterms:created>
  <dcterms:modified xsi:type="dcterms:W3CDTF">2026-06-12T01:04:29Z</dcterms:modified>
</cp:coreProperties>
</file>